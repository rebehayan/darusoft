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1512" r:id="rId3"/>
    <p:sldId id="1513" r:id="rId4"/>
    <p:sldId id="1515" r:id="rId5"/>
    <p:sldId id="1514" r:id="rId6"/>
    <p:sldId id="1516" r:id="rId7"/>
    <p:sldId id="1517" r:id="rId8"/>
    <p:sldId id="1518" r:id="rId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5FFD0F-406D-84A9-D461-DCB638425271}" name="kim sujin" initials="ks" userId="34a0032a82ce680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0349A9"/>
    <a:srgbClr val="F8F8F8"/>
    <a:srgbClr val="104862"/>
    <a:srgbClr val="163E64"/>
    <a:srgbClr val="DAE3F3"/>
    <a:srgbClr val="F8FAFF"/>
    <a:srgbClr val="FBFBFB"/>
    <a:srgbClr val="215F9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05" autoAdjust="0"/>
    <p:restoredTop sz="96279" autoAdjust="0"/>
  </p:normalViewPr>
  <p:slideViewPr>
    <p:cSldViewPr snapToGrid="0">
      <p:cViewPr varScale="1">
        <p:scale>
          <a:sx n="103" d="100"/>
          <a:sy n="103" d="100"/>
        </p:scale>
        <p:origin x="10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E0A89-714B-4470-8738-B2152D68E0AD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BB8E6-E8AC-4EDC-90A0-46AF068974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71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D91E6B-54D8-BDB2-8264-0617A4BC1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EA4E42-E1D7-6EBA-71FB-13B480378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7D3446-1239-1451-97E7-18B0E94C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53C9D9-341E-74C6-CCE8-1731D48CC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A78977-B44B-B97B-73E5-350AD506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55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7FF2A-28FB-ED56-FA95-28ADB8276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ACDE7A-6960-C99C-2407-7ADB72573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FE9D18-4D85-E97F-11AF-36AA46AB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1CCC01-EF19-972B-B19F-91A04020B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7A011C-E798-832A-40FA-FD23D51F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346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F628F-0A44-B272-31E4-47A379896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C4A3BB-8721-DBF0-61C4-B82F45701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3E98E-DA1A-6883-B659-A53B218E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12881F-9118-81CC-DC3B-9C1387081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BCCFB6-5EF6-C813-BD37-6AFEC9EE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51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287B5-347A-8868-E5CC-D51D97FE4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840361-4634-7DA6-B074-98B483148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543D6E-1DA4-9BB0-93A9-8B958BD39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5ACE3-7713-2943-FFC3-4225A4DB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47659-DCD7-A461-DF30-96120D12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17977D-D92E-3C3F-1B84-5E815566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46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37BA9-BDD6-311C-CD6E-964B4F660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5AF8A0-E14B-C1EF-DD7D-E46D74B70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B5BE65-465B-6859-02EB-DF0446FEC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18B066-7005-6E98-9BC2-20C163DAD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930DBD-B2F0-59FC-7E47-4DBBEE2573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5571CF-6B88-5779-3F15-FAA6A745A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5B7C1D-20A5-6B9B-0085-32C8AAB1C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7C02089-1BE8-B21E-9A6E-794C35FA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6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CE79F-E21D-B11A-C01D-B764F068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EC80BE-35C3-CAE2-69CC-69EAC350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3D60DF-DE87-D4CE-BFC3-345A4519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110640-0F01-27B6-FBDC-0F4BA6A0C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90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E12C48-714D-3C9A-9D7E-F938F6578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3EC200-C657-5FCE-3FFC-2A3AB316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0B6BA2-7007-2C65-258B-8A3EA371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169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40D2E-BE79-8ADD-1038-234338146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F67EB-6178-90D9-E3D6-9333915B4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84485D-1FDE-DE9F-30E0-CFD10814C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2FD389-820E-A385-F196-E613AF096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4EFB8-FAAC-AF7B-057A-EA0A927E8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716FBD-1EAE-F1A2-9AEB-9A8673080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37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6A686-0BA3-0CC0-3C44-4BA9B5BF2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575F36-423D-2827-EB49-06CF35354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3D8D9C-42FF-1726-CD35-24174D957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F1D620-9F9B-148E-3A99-A100A5F7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FA5F2E-DECF-7DE8-E026-600F2D625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1EAFE6-AF51-F73E-FA48-D9B725CB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14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26EB9-2D40-BD0E-DE38-F71E4BFB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D4B2AD-E419-EB57-4368-E5F77F557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D61B4E-17CA-86E5-93DE-D37B46CB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05A55E-AB14-4CB2-D194-78AEAD28A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1DB4A6-1988-B70D-1619-77DACB6E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11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E75FF1-DB35-4BCB-944C-9A6532F12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3F6C9E-C83D-BD90-913D-3E904EB9F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4AA1D5-A170-7C2B-921B-610B0045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9F40ED-DCED-273D-804F-6D2DE144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6DBE24-8F67-EDC8-3E24-6390E600E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606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60" descr="밝은 상향 대각선">
            <a:extLst>
              <a:ext uri="{FF2B5EF4-FFF2-40B4-BE49-F238E27FC236}">
                <a16:creationId xmlns:a16="http://schemas.microsoft.com/office/drawing/2014/main" id="{CEA079F1-E262-AB70-0D90-135A755618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42503" y="6642883"/>
            <a:ext cx="402097" cy="208002"/>
          </a:xfrm>
          <a:prstGeom prst="rect">
            <a:avLst/>
          </a:prstGeom>
          <a:noFill/>
          <a:ln>
            <a:noFill/>
          </a:ln>
        </p:spPr>
        <p:txBody>
          <a:bodyPr wrap="none" lIns="80824" tIns="42030" rIns="80824" bIns="42030">
            <a:spAutoFit/>
          </a:bodyPr>
          <a:lstStyle>
            <a:lvl1pPr defTabSz="915988" eaLnBrk="0" hangingPunct="0"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1pPr>
            <a:lvl2pPr marL="742950" indent="-285750" defTabSz="915988" eaLnBrk="0" hangingPunct="0"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2pPr>
            <a:lvl3pPr marL="1143000" indent="-228600" defTabSz="915988" eaLnBrk="0" hangingPunct="0"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3pPr>
            <a:lvl4pPr marL="1600200" indent="-228600" defTabSz="915988" eaLnBrk="0" hangingPunct="0"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4pPr>
            <a:lvl5pPr marL="2057400" indent="-228600" defTabSz="915988" eaLnBrk="0" hangingPunct="0"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5pPr>
            <a:lvl6pPr marL="2514600" indent="-228600" algn="ctr" defTabSz="915988" eaLnBrk="0" fontAlgn="base" hangingPunct="0">
              <a:spcBef>
                <a:spcPct val="20000"/>
              </a:spcBef>
              <a:spcAft>
                <a:spcPct val="0"/>
              </a:spcAft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6pPr>
            <a:lvl7pPr marL="2971800" indent="-228600" algn="ctr" defTabSz="915988" eaLnBrk="0" fontAlgn="base" hangingPunct="0">
              <a:spcBef>
                <a:spcPct val="20000"/>
              </a:spcBef>
              <a:spcAft>
                <a:spcPct val="0"/>
              </a:spcAft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7pPr>
            <a:lvl8pPr marL="3429000" indent="-228600" algn="ctr" defTabSz="915988" eaLnBrk="0" fontAlgn="base" hangingPunct="0">
              <a:spcBef>
                <a:spcPct val="20000"/>
              </a:spcBef>
              <a:spcAft>
                <a:spcPct val="0"/>
              </a:spcAft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8pPr>
            <a:lvl9pPr marL="3886200" indent="-228600" algn="ctr" defTabSz="915988" eaLnBrk="0" fontAlgn="base" hangingPunct="0">
              <a:spcBef>
                <a:spcPct val="20000"/>
              </a:spcBef>
              <a:spcAft>
                <a:spcPct val="0"/>
              </a:spcAft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ko-KR" sz="8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0C089-5BAC-7FD4-3568-D8588BB14C3A}"/>
              </a:ext>
            </a:extLst>
          </p:cNvPr>
          <p:cNvSpPr txBox="1"/>
          <p:nvPr userDrawn="1"/>
        </p:nvSpPr>
        <p:spPr>
          <a:xfrm>
            <a:off x="5667337" y="6619022"/>
            <a:ext cx="432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67F0534-071C-438F-9255-86D177BFCBB0}" type="slidenum">
              <a:rPr lang="ko-KR" altLang="en-US" sz="1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r"/>
              <a:t>‹#›</a:t>
            </a:fld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EBE53C1-2A6C-90E1-818F-D96E3263582B}"/>
              </a:ext>
            </a:extLst>
          </p:cNvPr>
          <p:cNvCxnSpPr>
            <a:cxnSpLocks/>
          </p:cNvCxnSpPr>
          <p:nvPr userDrawn="1"/>
        </p:nvCxnSpPr>
        <p:spPr>
          <a:xfrm>
            <a:off x="334610" y="422239"/>
            <a:ext cx="11731516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09191CA-0E6A-6837-BDFB-6E572A4F9A44}"/>
              </a:ext>
            </a:extLst>
          </p:cNvPr>
          <p:cNvCxnSpPr>
            <a:cxnSpLocks/>
          </p:cNvCxnSpPr>
          <p:nvPr userDrawn="1"/>
        </p:nvCxnSpPr>
        <p:spPr>
          <a:xfrm>
            <a:off x="334610" y="112560"/>
            <a:ext cx="11731516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843ACD7-03B2-803D-E8ED-8F58AD6E36E8}"/>
              </a:ext>
            </a:extLst>
          </p:cNvPr>
          <p:cNvSpPr/>
          <p:nvPr userDrawn="1"/>
        </p:nvSpPr>
        <p:spPr bwMode="auto">
          <a:xfrm>
            <a:off x="165095" y="107269"/>
            <a:ext cx="930737" cy="327309"/>
          </a:xfrm>
          <a:prstGeom prst="roundRect">
            <a:avLst>
              <a:gd name="adj" fmla="val 8298"/>
            </a:avLst>
          </a:prstGeom>
          <a:solidFill>
            <a:schemeClr val="bg2">
              <a:lumMod val="2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28" tIns="45714" rIns="91428" bIns="45714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프로젝트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9DF6ED-3944-7D61-2F70-E61064CD4188}"/>
              </a:ext>
            </a:extLst>
          </p:cNvPr>
          <p:cNvSpPr/>
          <p:nvPr userDrawn="1"/>
        </p:nvSpPr>
        <p:spPr bwMode="auto">
          <a:xfrm>
            <a:off x="4872250" y="107269"/>
            <a:ext cx="930737" cy="327309"/>
          </a:xfrm>
          <a:prstGeom prst="roundRect">
            <a:avLst>
              <a:gd name="adj" fmla="val 8298"/>
            </a:avLst>
          </a:prstGeom>
          <a:solidFill>
            <a:schemeClr val="bg2">
              <a:lumMod val="2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28" tIns="45714" rIns="91428" bIns="45714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화면 경로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86AF7BB-B728-F917-9D2B-E6F99BE5EDC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972428" y="779993"/>
            <a:ext cx="0" cy="607089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6">
            <a:extLst>
              <a:ext uri="{FF2B5EF4-FFF2-40B4-BE49-F238E27FC236}">
                <a16:creationId xmlns:a16="http://schemas.microsoft.com/office/drawing/2014/main" id="{D6BDA716-CB43-C4C5-E4E4-01D5CF30EC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3774" y="179588"/>
            <a:ext cx="480756" cy="169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ctr" defTabSz="914400" rtl="0" eaLnBrk="1" latinLnBrk="1" hangingPunct="1">
              <a:defRPr kumimoji="1" sz="900" b="0" kern="1200">
                <a:solidFill>
                  <a:schemeClr val="tx1">
                    <a:tint val="82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785AD0-4D9E-493F-8346-F872BF113D3E}" type="slidenum">
              <a:rPr lang="ko-KR" altLang="en-US" sz="900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900" dirty="0">
              <a:solidFill>
                <a:srgbClr val="00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BD94762-F3F0-1D4D-A24D-A7E8B577F30F}"/>
              </a:ext>
            </a:extLst>
          </p:cNvPr>
          <p:cNvSpPr/>
          <p:nvPr userDrawn="1"/>
        </p:nvSpPr>
        <p:spPr bwMode="auto">
          <a:xfrm>
            <a:off x="10921164" y="107269"/>
            <a:ext cx="577852" cy="32730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28" tIns="45714" rIns="91428" bIns="45714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No.</a:t>
            </a:r>
            <a:endParaRPr kumimoji="1" lang="ko-KR" altLang="en-US" sz="1000" b="1" dirty="0">
              <a:solidFill>
                <a:schemeClr val="bg1"/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EBB8601-AF54-C7E1-B2F9-4C1053639F0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02331033"/>
              </p:ext>
            </p:extLst>
          </p:nvPr>
        </p:nvGraphicFramePr>
        <p:xfrm>
          <a:off x="8975525" y="486758"/>
          <a:ext cx="3092653" cy="1364225"/>
        </p:xfrm>
        <a:graphic>
          <a:graphicData uri="http://schemas.openxmlformats.org/drawingml/2006/table">
            <a:tbl>
              <a:tblPr/>
              <a:tblGrid>
                <a:gridCol w="51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1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Wingdings 2" pitchFamily="18" charset="2"/>
                      </a:endParaRPr>
                    </a:p>
                  </a:txBody>
                  <a:tcPr marL="0" marR="0" marT="59349" marB="59349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B3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 정의</a:t>
                      </a:r>
                    </a:p>
                  </a:txBody>
                  <a:tcPr marL="51751" marR="0" marT="53954" marB="53954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516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 2" pitchFamily="18" charset="2"/>
                      </a:endParaRPr>
                    </a:p>
                  </a:txBody>
                  <a:tcPr marL="0" marR="0" marT="53954" marB="53954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51751" marR="0" marT="53954" marB="53954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 2" pitchFamily="18" charset="2"/>
                      </a:endParaRPr>
                    </a:p>
                  </a:txBody>
                  <a:tcPr marL="0" marR="0" marT="53954" marB="53954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 2" pitchFamily="18" charset="2"/>
                        </a:rPr>
                        <a:t>화면 권한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 2" pitchFamily="18" charset="2"/>
                      </a:endParaRPr>
                    </a:p>
                  </a:txBody>
                  <a:tcPr marL="51751" marR="0" marT="53954" marB="53954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87B500D-B6E2-4D73-FAFF-F2AFE0C96065}"/>
              </a:ext>
            </a:extLst>
          </p:cNvPr>
          <p:cNvSpPr/>
          <p:nvPr userDrawn="1"/>
        </p:nvSpPr>
        <p:spPr bwMode="auto">
          <a:xfrm>
            <a:off x="8983639" y="2001270"/>
            <a:ext cx="3080916" cy="270504"/>
          </a:xfrm>
          <a:prstGeom prst="roundRect">
            <a:avLst>
              <a:gd name="adj" fmla="val 8298"/>
            </a:avLst>
          </a:prstGeom>
          <a:solidFill>
            <a:schemeClr val="bg2">
              <a:lumMod val="2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28" tIns="45714" rIns="91428" bIns="45714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Description</a:t>
            </a:r>
            <a:endParaRPr kumimoji="1" lang="ko-KR" altLang="en-US" sz="9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776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60" descr="밝은 상향 대각선">
            <a:extLst>
              <a:ext uri="{FF2B5EF4-FFF2-40B4-BE49-F238E27FC236}">
                <a16:creationId xmlns:a16="http://schemas.microsoft.com/office/drawing/2014/main" id="{CEA079F1-E262-AB70-0D90-135A755618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42503" y="6642883"/>
            <a:ext cx="402097" cy="208002"/>
          </a:xfrm>
          <a:prstGeom prst="rect">
            <a:avLst/>
          </a:prstGeom>
          <a:noFill/>
          <a:ln>
            <a:noFill/>
          </a:ln>
        </p:spPr>
        <p:txBody>
          <a:bodyPr wrap="none" lIns="80824" tIns="42030" rIns="80824" bIns="42030">
            <a:spAutoFit/>
          </a:bodyPr>
          <a:lstStyle>
            <a:lvl1pPr defTabSz="915988" eaLnBrk="0" hangingPunct="0"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1pPr>
            <a:lvl2pPr marL="742950" indent="-285750" defTabSz="915988" eaLnBrk="0" hangingPunct="0"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2pPr>
            <a:lvl3pPr marL="1143000" indent="-228600" defTabSz="915988" eaLnBrk="0" hangingPunct="0"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3pPr>
            <a:lvl4pPr marL="1600200" indent="-228600" defTabSz="915988" eaLnBrk="0" hangingPunct="0"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4pPr>
            <a:lvl5pPr marL="2057400" indent="-228600" defTabSz="915988" eaLnBrk="0" hangingPunct="0"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5pPr>
            <a:lvl6pPr marL="2514600" indent="-228600" algn="ctr" defTabSz="915988" eaLnBrk="0" fontAlgn="base" hangingPunct="0">
              <a:spcBef>
                <a:spcPct val="20000"/>
              </a:spcBef>
              <a:spcAft>
                <a:spcPct val="0"/>
              </a:spcAft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6pPr>
            <a:lvl7pPr marL="2971800" indent="-228600" algn="ctr" defTabSz="915988" eaLnBrk="0" fontAlgn="base" hangingPunct="0">
              <a:spcBef>
                <a:spcPct val="20000"/>
              </a:spcBef>
              <a:spcAft>
                <a:spcPct val="0"/>
              </a:spcAft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7pPr>
            <a:lvl8pPr marL="3429000" indent="-228600" algn="ctr" defTabSz="915988" eaLnBrk="0" fontAlgn="base" hangingPunct="0">
              <a:spcBef>
                <a:spcPct val="20000"/>
              </a:spcBef>
              <a:spcAft>
                <a:spcPct val="0"/>
              </a:spcAft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8pPr>
            <a:lvl9pPr marL="3886200" indent="-228600" algn="ctr" defTabSz="915988" eaLnBrk="0" fontAlgn="base" hangingPunct="0">
              <a:spcBef>
                <a:spcPct val="20000"/>
              </a:spcBef>
              <a:spcAft>
                <a:spcPct val="0"/>
              </a:spcAft>
              <a:defRPr kumimoji="1" sz="7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sym typeface="Wingdings 2" pitchFamily="18" charset="2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ko-KR" sz="8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0C089-5BAC-7FD4-3568-D8588BB14C3A}"/>
              </a:ext>
            </a:extLst>
          </p:cNvPr>
          <p:cNvSpPr txBox="1"/>
          <p:nvPr userDrawn="1"/>
        </p:nvSpPr>
        <p:spPr>
          <a:xfrm>
            <a:off x="5667337" y="6619022"/>
            <a:ext cx="432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67F0534-071C-438F-9255-86D177BFCBB0}" type="slidenum">
              <a:rPr lang="ko-KR" altLang="en-US" sz="1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r"/>
              <a:t>‹#›</a:t>
            </a:fld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EBE53C1-2A6C-90E1-818F-D96E3263582B}"/>
              </a:ext>
            </a:extLst>
          </p:cNvPr>
          <p:cNvCxnSpPr>
            <a:cxnSpLocks/>
          </p:cNvCxnSpPr>
          <p:nvPr userDrawn="1"/>
        </p:nvCxnSpPr>
        <p:spPr>
          <a:xfrm>
            <a:off x="334610" y="422239"/>
            <a:ext cx="11731516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09191CA-0E6A-6837-BDFB-6E572A4F9A44}"/>
              </a:ext>
            </a:extLst>
          </p:cNvPr>
          <p:cNvCxnSpPr>
            <a:cxnSpLocks/>
          </p:cNvCxnSpPr>
          <p:nvPr userDrawn="1"/>
        </p:nvCxnSpPr>
        <p:spPr>
          <a:xfrm>
            <a:off x="334610" y="112560"/>
            <a:ext cx="11731516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843ACD7-03B2-803D-E8ED-8F58AD6E36E8}"/>
              </a:ext>
            </a:extLst>
          </p:cNvPr>
          <p:cNvSpPr/>
          <p:nvPr userDrawn="1"/>
        </p:nvSpPr>
        <p:spPr bwMode="auto">
          <a:xfrm>
            <a:off x="165095" y="107269"/>
            <a:ext cx="930737" cy="327309"/>
          </a:xfrm>
          <a:prstGeom prst="roundRect">
            <a:avLst>
              <a:gd name="adj" fmla="val 8298"/>
            </a:avLst>
          </a:prstGeom>
          <a:solidFill>
            <a:schemeClr val="bg2">
              <a:lumMod val="2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28" tIns="45714" rIns="91428" bIns="45714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프로젝트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9DF6ED-3944-7D61-2F70-E61064CD4188}"/>
              </a:ext>
            </a:extLst>
          </p:cNvPr>
          <p:cNvSpPr/>
          <p:nvPr userDrawn="1"/>
        </p:nvSpPr>
        <p:spPr bwMode="auto">
          <a:xfrm>
            <a:off x="4872250" y="107269"/>
            <a:ext cx="930737" cy="327309"/>
          </a:xfrm>
          <a:prstGeom prst="roundRect">
            <a:avLst>
              <a:gd name="adj" fmla="val 8298"/>
            </a:avLst>
          </a:prstGeom>
          <a:solidFill>
            <a:schemeClr val="bg2">
              <a:lumMod val="2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28" tIns="45714" rIns="91428" bIns="45714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화면 경로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86AF7BB-B728-F917-9D2B-E6F99BE5EDC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972428" y="779993"/>
            <a:ext cx="0" cy="607089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6">
            <a:extLst>
              <a:ext uri="{FF2B5EF4-FFF2-40B4-BE49-F238E27FC236}">
                <a16:creationId xmlns:a16="http://schemas.microsoft.com/office/drawing/2014/main" id="{D6BDA716-CB43-C4C5-E4E4-01D5CF30EC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3774" y="179588"/>
            <a:ext cx="480756" cy="169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ctr" defTabSz="914400" rtl="0" eaLnBrk="1" latinLnBrk="1" hangingPunct="1">
              <a:defRPr kumimoji="1" sz="900" b="0" kern="1200">
                <a:solidFill>
                  <a:schemeClr val="tx1">
                    <a:tint val="82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785AD0-4D9E-493F-8346-F872BF113D3E}" type="slidenum">
              <a:rPr lang="ko-KR" altLang="en-US" sz="900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900" dirty="0">
              <a:solidFill>
                <a:srgbClr val="00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BD94762-F3F0-1D4D-A24D-A7E8B577F30F}"/>
              </a:ext>
            </a:extLst>
          </p:cNvPr>
          <p:cNvSpPr/>
          <p:nvPr userDrawn="1"/>
        </p:nvSpPr>
        <p:spPr bwMode="auto">
          <a:xfrm>
            <a:off x="10921164" y="107269"/>
            <a:ext cx="577852" cy="32730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28" tIns="45714" rIns="91428" bIns="45714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b="1" dirty="0">
                <a:solidFill>
                  <a:schemeClr val="bg1"/>
                </a:solidFill>
                <a:latin typeface="Noto Sans" panose="020B0502040504020204" pitchFamily="34" charset="0"/>
                <a:cs typeface="Noto Sans" panose="020B0502040504020204" pitchFamily="34" charset="0"/>
              </a:rPr>
              <a:t>No.</a:t>
            </a:r>
            <a:endParaRPr kumimoji="1" lang="ko-KR" altLang="en-US" sz="1000" b="1" dirty="0">
              <a:solidFill>
                <a:schemeClr val="bg1"/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AA00973-9412-3044-7CBA-C6EC7D3F7981}"/>
              </a:ext>
            </a:extLst>
          </p:cNvPr>
          <p:cNvSpPr/>
          <p:nvPr userDrawn="1"/>
        </p:nvSpPr>
        <p:spPr bwMode="auto">
          <a:xfrm>
            <a:off x="8984809" y="2001270"/>
            <a:ext cx="3081317" cy="270504"/>
          </a:xfrm>
          <a:prstGeom prst="roundRect">
            <a:avLst>
              <a:gd name="adj" fmla="val 8298"/>
            </a:avLst>
          </a:prstGeom>
          <a:solidFill>
            <a:schemeClr val="bg2">
              <a:lumMod val="25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28" tIns="45714" rIns="91428" bIns="45714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Description</a:t>
            </a:r>
            <a:endParaRPr kumimoji="1" lang="ko-KR" altLang="en-US" sz="9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Noto Sans" panose="020B0502040504020204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BA2A894-F9A0-20B2-7689-858A74473C2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41758008"/>
              </p:ext>
            </p:extLst>
          </p:nvPr>
        </p:nvGraphicFramePr>
        <p:xfrm>
          <a:off x="8975525" y="486758"/>
          <a:ext cx="3092653" cy="1364225"/>
        </p:xfrm>
        <a:graphic>
          <a:graphicData uri="http://schemas.openxmlformats.org/drawingml/2006/table">
            <a:tbl>
              <a:tblPr/>
              <a:tblGrid>
                <a:gridCol w="51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1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Wingdings 2" pitchFamily="18" charset="2"/>
                      </a:endParaRPr>
                    </a:p>
                  </a:txBody>
                  <a:tcPr marL="0" marR="0" marT="59349" marB="59349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B3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 정의</a:t>
                      </a:r>
                    </a:p>
                  </a:txBody>
                  <a:tcPr marL="51751" marR="0" marT="53954" marB="53954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516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 2" pitchFamily="18" charset="2"/>
                      </a:endParaRPr>
                    </a:p>
                  </a:txBody>
                  <a:tcPr marL="0" marR="0" marT="53954" marB="53954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51751" marR="0" marT="53954" marB="53954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 2" pitchFamily="18" charset="2"/>
                      </a:endParaRPr>
                    </a:p>
                  </a:txBody>
                  <a:tcPr marL="0" marR="0" marT="53954" marB="53954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 2" pitchFamily="18" charset="2"/>
                        </a:rPr>
                        <a:t>화면 권한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 2" pitchFamily="18" charset="2"/>
                      </a:endParaRPr>
                    </a:p>
                  </a:txBody>
                  <a:tcPr marL="51751" marR="0" marT="53954" marB="53954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73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8806A-BAEE-62B3-B4CA-43294AFD4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199" y="1122363"/>
            <a:ext cx="914360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9BA083-C631-0403-0616-D7E322DA6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199" y="3602038"/>
            <a:ext cx="914360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CE073D-D02E-EC81-F6D6-8D199424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7B0F7-8DAB-4BC1-B7C0-0536BB42494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763DB-2F72-79D8-7D7C-74B6A99D0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DD391E-4F3E-293F-954E-7E2DB7EA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CCB3D-CF0E-4829-AD5F-11F12AA647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719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4687F-6B24-FE89-1804-9D08B086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41AB36-7EF2-037A-7905-5FD16B96F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A2F364-E511-9CB8-06D6-523116257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7B0F7-8DAB-4BC1-B7C0-0536BB42494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06CE2A-119E-5486-972C-BE65D6D7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00C6D-6D2B-D006-5176-540B86FF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CCB3D-CF0E-4829-AD5F-11F12AA647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051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A630E-8032-2E2B-247E-F98F85C27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59" y="1709739"/>
            <a:ext cx="1051538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9B26C-A184-A70B-2BB9-729859ADA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959" y="4589464"/>
            <a:ext cx="1051538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6C21D-4A69-B2F3-5D16-B1B7D9A6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7B0F7-8DAB-4BC1-B7C0-0536BB42494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0CE504-F2D5-8BD4-11C6-16A28BC3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5D863-F7DB-E4FC-4776-223FBFA8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CCB3D-CF0E-4829-AD5F-11F12AA647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323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2595C-D337-EBC8-3A54-087A3DE9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CEA428-CF71-7405-25D4-3EDD9F8AD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310" y="1825625"/>
            <a:ext cx="5180687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5158CA-1EA7-1755-9255-96DB7FA19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1416" y="1825625"/>
            <a:ext cx="5182275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223A7B-D011-A10F-9A63-43FFDAA9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7B0F7-8DAB-4BC1-B7C0-0536BB42494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21EAF2-6B1C-E298-D1E7-26BC412E2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B19246-38C9-B82F-B47E-941D5C16A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CCB3D-CF0E-4829-AD5F-11F12AA647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61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D5F63F-E07B-C70F-94F3-1E5BE7DD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FEF7DF-CCB3-2436-7DDF-ACEDEE0CA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3338CA-DC1F-B921-319D-7B7995381B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05DF7-D55F-43A6-B0FA-3F18A8D89E8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6F2B38-1091-AA54-E4F6-AD8CCF945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8FEBA9-DC1F-908E-15E2-20CFC486A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684EA-9F65-4FA9-A36B-E3365E899C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104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8E0E3B-2E86-0322-0216-CDA4BBED1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310" y="365126"/>
            <a:ext cx="105153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178E8D-DE2F-DE99-AA2D-03B5C9D11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310" y="1825625"/>
            <a:ext cx="105153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1DF695-6447-08DA-21A9-A2A7DD4C0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7B0F7-8DAB-4BC1-B7C0-0536BB42494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E7ADBE-55E3-C4B8-C10E-57881E4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9127" y="6356351"/>
            <a:ext cx="41137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D4E6A-2C20-2C57-9E52-DEB87CCD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134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CCB3D-CF0E-4829-AD5F-11F12AA647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79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ymation.co.kr/index.html" TargetMode="External"/><Relationship Id="rId2" Type="http://schemas.openxmlformats.org/officeDocument/2006/relationships/hyperlink" Target="https://www.urpai.co.kr/company/history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85724-FC64-F03A-D21C-09309C8A4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97F1371-F45C-BBCB-E300-49527236D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473311"/>
              </p:ext>
            </p:extLst>
          </p:nvPr>
        </p:nvGraphicFramePr>
        <p:xfrm>
          <a:off x="8976320" y="486758"/>
          <a:ext cx="3092653" cy="1370194"/>
        </p:xfrm>
        <a:graphic>
          <a:graphicData uri="http://schemas.openxmlformats.org/drawingml/2006/table">
            <a:tbl>
              <a:tblPr/>
              <a:tblGrid>
                <a:gridCol w="51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1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Wingdings 2" pitchFamily="18" charset="2"/>
                      </a:endParaRPr>
                    </a:p>
                  </a:txBody>
                  <a:tcPr marL="0" marR="0" marT="59349" marB="59349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B3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화면 정의</a:t>
                      </a:r>
                    </a:p>
                  </a:txBody>
                  <a:tcPr marL="51751" marR="0" marT="53954" marB="53954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516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 2" pitchFamily="18" charset="2"/>
                      </a:endParaRPr>
                    </a:p>
                  </a:txBody>
                  <a:tcPr marL="0" marR="0" marT="53954" marB="53954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 </a:t>
                      </a:r>
                      <a:r>
                        <a:rPr lang="ko-KR" altLang="en-US" sz="800" b="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원페이지 와이어프레임 형태</a:t>
                      </a:r>
                      <a:endParaRPr lang="en-US" altLang="ko-KR" sz="800" b="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51751" marR="0" marT="53954" marB="53954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sym typeface="Wingdings 2" pitchFamily="18" charset="2"/>
                      </a:endParaRPr>
                    </a:p>
                  </a:txBody>
                  <a:tcPr marL="0" marR="0" marT="53954" marB="53954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sym typeface="Wingdings 2" pitchFamily="18" charset="2"/>
                        </a:rPr>
                        <a:t>화면 권한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sym typeface="Wingdings 2" pitchFamily="18" charset="2"/>
                      </a:endParaRPr>
                    </a:p>
                  </a:txBody>
                  <a:tcPr marL="51751" marR="0" marT="53954" marB="53954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F5C418C-1D80-9662-6115-F2EB690D064A}"/>
              </a:ext>
            </a:extLst>
          </p:cNvPr>
          <p:cNvSpPr txBox="1"/>
          <p:nvPr/>
        </p:nvSpPr>
        <p:spPr>
          <a:xfrm>
            <a:off x="9020174" y="2308179"/>
            <a:ext cx="2996422" cy="99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ts val="12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ko-KR" altLang="en-US" sz="800" b="1" dirty="0">
                <a:latin typeface="+mn-ea"/>
              </a:rPr>
              <a:t>참고 사이트</a:t>
            </a:r>
            <a:br>
              <a:rPr lang="en-US" altLang="ko-KR" sz="800" b="1" dirty="0">
                <a:latin typeface="+mn-ea"/>
              </a:rPr>
            </a:br>
            <a:r>
              <a:rPr lang="en-US" altLang="ko-KR" sz="800" b="1" dirty="0">
                <a:latin typeface="+mn-ea"/>
              </a:rPr>
              <a:t>- https://www.gsitm.com/</a:t>
            </a:r>
            <a:br>
              <a:rPr lang="en-US" altLang="ko-KR" sz="800" b="1" dirty="0">
                <a:latin typeface="+mn-ea"/>
              </a:rPr>
            </a:br>
            <a:r>
              <a:rPr lang="en-US" altLang="ko-KR" sz="800" b="1" dirty="0">
                <a:latin typeface="+mn-ea"/>
              </a:rPr>
              <a:t>- https://www.megazone.com/</a:t>
            </a:r>
            <a:br>
              <a:rPr lang="en-US" altLang="ko-KR" sz="800" b="1" dirty="0">
                <a:latin typeface="+mn-ea"/>
              </a:rPr>
            </a:br>
            <a:r>
              <a:rPr lang="en-US" altLang="ko-KR" sz="800" b="1" dirty="0">
                <a:latin typeface="+mn-ea"/>
              </a:rPr>
              <a:t>- </a:t>
            </a:r>
            <a:r>
              <a:rPr lang="en-US" altLang="ko-KR" sz="800" dirty="0"/>
              <a:t>https://nhn.com/</a:t>
            </a:r>
            <a:br>
              <a:rPr lang="en-US" altLang="ko-KR" sz="800" dirty="0"/>
            </a:br>
            <a:r>
              <a:rPr lang="en-US" altLang="ko-KR" sz="800" b="1" dirty="0">
                <a:latin typeface="+mn-ea"/>
              </a:rPr>
              <a:t>- </a:t>
            </a:r>
            <a:r>
              <a:rPr lang="en-US" altLang="ko-KR" sz="800" b="1" dirty="0">
                <a:latin typeface="+mn-ea"/>
                <a:hlinkClick r:id="rId2"/>
              </a:rPr>
              <a:t>https://www.urpai.co.kr/company/history</a:t>
            </a:r>
            <a:br>
              <a:rPr lang="en-US" altLang="ko-KR" sz="800" b="1" dirty="0">
                <a:latin typeface="+mn-ea"/>
              </a:rPr>
            </a:br>
            <a:r>
              <a:rPr lang="en-US" altLang="ko-KR" sz="800" b="1" dirty="0">
                <a:latin typeface="+mn-ea"/>
              </a:rPr>
              <a:t>- </a:t>
            </a:r>
            <a:r>
              <a:rPr lang="en-US" altLang="ko-KR" sz="800" dirty="0" err="1">
                <a:hlinkClick r:id="rId3"/>
              </a:rPr>
              <a:t>Symation</a:t>
            </a:r>
            <a:r>
              <a:rPr lang="en-US" altLang="ko-KR" sz="800" dirty="0">
                <a:hlinkClick r:id="rId3"/>
              </a:rPr>
              <a:t> Inc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B41F950-7792-9C62-5EB5-3EAAEAF88554}"/>
              </a:ext>
            </a:extLst>
          </p:cNvPr>
          <p:cNvSpPr/>
          <p:nvPr/>
        </p:nvSpPr>
        <p:spPr>
          <a:xfrm>
            <a:off x="777021" y="824779"/>
            <a:ext cx="2236768" cy="1124264"/>
          </a:xfrm>
          <a:prstGeom prst="rect">
            <a:avLst/>
          </a:prstGeom>
          <a:solidFill>
            <a:srgbClr val="F8F8F8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3CE0EA-056D-6DE2-B9B9-9FCFEB84BD5A}"/>
              </a:ext>
            </a:extLst>
          </p:cNvPr>
          <p:cNvSpPr txBox="1"/>
          <p:nvPr/>
        </p:nvSpPr>
        <p:spPr>
          <a:xfrm>
            <a:off x="834924" y="850395"/>
            <a:ext cx="11234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메인 페이지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AA87EAB-20A9-867E-7AAA-B0282D8F6E07}"/>
              </a:ext>
            </a:extLst>
          </p:cNvPr>
          <p:cNvSpPr/>
          <p:nvPr/>
        </p:nvSpPr>
        <p:spPr>
          <a:xfrm>
            <a:off x="777021" y="3070173"/>
            <a:ext cx="2236768" cy="112426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45A0FC0-CCC6-1307-2E72-900E8E8510B5}"/>
              </a:ext>
            </a:extLst>
          </p:cNvPr>
          <p:cNvSpPr/>
          <p:nvPr/>
        </p:nvSpPr>
        <p:spPr>
          <a:xfrm>
            <a:off x="776158" y="1949043"/>
            <a:ext cx="2236768" cy="112426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오른쪽 중괄호 1">
            <a:extLst>
              <a:ext uri="{FF2B5EF4-FFF2-40B4-BE49-F238E27FC236}">
                <a16:creationId xmlns:a16="http://schemas.microsoft.com/office/drawing/2014/main" id="{3DA10D16-B8F7-1C80-9731-17B99459D2F2}"/>
              </a:ext>
            </a:extLst>
          </p:cNvPr>
          <p:cNvSpPr/>
          <p:nvPr/>
        </p:nvSpPr>
        <p:spPr>
          <a:xfrm>
            <a:off x="3124286" y="875882"/>
            <a:ext cx="297296" cy="102205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C9294D-6999-F849-1FE8-0ABF8FDF81CD}"/>
              </a:ext>
            </a:extLst>
          </p:cNvPr>
          <p:cNvSpPr txBox="1"/>
          <p:nvPr/>
        </p:nvSpPr>
        <p:spPr>
          <a:xfrm>
            <a:off x="3600595" y="1032792"/>
            <a:ext cx="138050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 </a:t>
            </a:r>
            <a:r>
              <a:rPr lang="ko-KR" altLang="en-US" sz="900" dirty="0"/>
              <a:t>메인 카피</a:t>
            </a:r>
          </a:p>
          <a:p>
            <a:r>
              <a:rPr lang="en-US" altLang="ko-KR" sz="900" dirty="0"/>
              <a:t>- </a:t>
            </a:r>
            <a:r>
              <a:rPr lang="ko-KR" altLang="en-US" sz="900" dirty="0"/>
              <a:t>핵심 서비스 </a:t>
            </a:r>
            <a:r>
              <a:rPr lang="en-US" altLang="ko-KR" sz="900" dirty="0"/>
              <a:t>3</a:t>
            </a:r>
            <a:r>
              <a:rPr lang="ko-KR" altLang="en-US" sz="900" dirty="0"/>
              <a:t>개 요약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BE6D46-52FA-3F8F-DB43-3CEDFCBC46EF}"/>
              </a:ext>
            </a:extLst>
          </p:cNvPr>
          <p:cNvSpPr/>
          <p:nvPr/>
        </p:nvSpPr>
        <p:spPr>
          <a:xfrm>
            <a:off x="777021" y="5324898"/>
            <a:ext cx="2236768" cy="112426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8EA3D0-7CC0-7620-69C9-788B6DEB9449}"/>
              </a:ext>
            </a:extLst>
          </p:cNvPr>
          <p:cNvSpPr/>
          <p:nvPr/>
        </p:nvSpPr>
        <p:spPr>
          <a:xfrm>
            <a:off x="776158" y="4200634"/>
            <a:ext cx="2236768" cy="112426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AA765B-2DBE-D8EF-087A-44C00192808B}"/>
              </a:ext>
            </a:extLst>
          </p:cNvPr>
          <p:cNvSpPr txBox="1"/>
          <p:nvPr/>
        </p:nvSpPr>
        <p:spPr>
          <a:xfrm>
            <a:off x="3532079" y="756903"/>
            <a:ext cx="106399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/>
              <a:t>메인 페이지</a:t>
            </a:r>
            <a:endParaRPr lang="ko-KR" altLang="en-US" sz="1000" b="1" dirty="0"/>
          </a:p>
        </p:txBody>
      </p:sp>
      <p:sp>
        <p:nvSpPr>
          <p:cNvPr id="20" name="오른쪽 중괄호 19">
            <a:extLst>
              <a:ext uri="{FF2B5EF4-FFF2-40B4-BE49-F238E27FC236}">
                <a16:creationId xmlns:a16="http://schemas.microsoft.com/office/drawing/2014/main" id="{6A6CF64E-4555-C152-E949-7DAC46EF8125}"/>
              </a:ext>
            </a:extLst>
          </p:cNvPr>
          <p:cNvSpPr/>
          <p:nvPr/>
        </p:nvSpPr>
        <p:spPr>
          <a:xfrm>
            <a:off x="3124286" y="1993321"/>
            <a:ext cx="297296" cy="102205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오른쪽 중괄호 20">
            <a:extLst>
              <a:ext uri="{FF2B5EF4-FFF2-40B4-BE49-F238E27FC236}">
                <a16:creationId xmlns:a16="http://schemas.microsoft.com/office/drawing/2014/main" id="{4FBCF970-B280-3AD6-3796-FC985D2B56DB}"/>
              </a:ext>
            </a:extLst>
          </p:cNvPr>
          <p:cNvSpPr/>
          <p:nvPr/>
        </p:nvSpPr>
        <p:spPr>
          <a:xfrm>
            <a:off x="3124286" y="3124755"/>
            <a:ext cx="297296" cy="102205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오른쪽 중괄호 21">
            <a:extLst>
              <a:ext uri="{FF2B5EF4-FFF2-40B4-BE49-F238E27FC236}">
                <a16:creationId xmlns:a16="http://schemas.microsoft.com/office/drawing/2014/main" id="{C2048630-F756-B65D-B49E-B75C370BF895}"/>
              </a:ext>
            </a:extLst>
          </p:cNvPr>
          <p:cNvSpPr/>
          <p:nvPr/>
        </p:nvSpPr>
        <p:spPr>
          <a:xfrm>
            <a:off x="3124286" y="4242194"/>
            <a:ext cx="297296" cy="102205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오른쪽 중괄호 22">
            <a:extLst>
              <a:ext uri="{FF2B5EF4-FFF2-40B4-BE49-F238E27FC236}">
                <a16:creationId xmlns:a16="http://schemas.microsoft.com/office/drawing/2014/main" id="{45ADF459-BA46-A3E9-6E19-7FD0F16F865D}"/>
              </a:ext>
            </a:extLst>
          </p:cNvPr>
          <p:cNvSpPr/>
          <p:nvPr/>
        </p:nvSpPr>
        <p:spPr>
          <a:xfrm>
            <a:off x="3124286" y="5380240"/>
            <a:ext cx="297296" cy="102205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373396-A981-335F-1DBE-A62806B6FDE0}"/>
              </a:ext>
            </a:extLst>
          </p:cNvPr>
          <p:cNvSpPr txBox="1"/>
          <p:nvPr/>
        </p:nvSpPr>
        <p:spPr>
          <a:xfrm>
            <a:off x="3667515" y="3095789"/>
            <a:ext cx="861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솔루션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5E73CE-F3B4-3752-4B39-554D79C338B7}"/>
              </a:ext>
            </a:extLst>
          </p:cNvPr>
          <p:cNvSpPr txBox="1"/>
          <p:nvPr/>
        </p:nvSpPr>
        <p:spPr>
          <a:xfrm>
            <a:off x="3669632" y="2037217"/>
            <a:ext cx="926443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사업분야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F219BA-4E8E-0CFD-FF1E-D613BB90655B}"/>
              </a:ext>
            </a:extLst>
          </p:cNvPr>
          <p:cNvSpPr txBox="1"/>
          <p:nvPr/>
        </p:nvSpPr>
        <p:spPr>
          <a:xfrm>
            <a:off x="3667515" y="5350514"/>
            <a:ext cx="861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회사소개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4FF297-B88C-322B-2EF1-CD0B2063DD79}"/>
              </a:ext>
            </a:extLst>
          </p:cNvPr>
          <p:cNvSpPr txBox="1"/>
          <p:nvPr/>
        </p:nvSpPr>
        <p:spPr>
          <a:xfrm>
            <a:off x="3669632" y="4226250"/>
            <a:ext cx="926443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포트폴리오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228CC8-D8C1-0F69-4F49-36E6918F8065}"/>
              </a:ext>
            </a:extLst>
          </p:cNvPr>
          <p:cNvSpPr txBox="1"/>
          <p:nvPr/>
        </p:nvSpPr>
        <p:spPr>
          <a:xfrm>
            <a:off x="3600595" y="3331325"/>
            <a:ext cx="2938625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 </a:t>
            </a:r>
            <a:r>
              <a:rPr lang="ko-KR" altLang="en-US" sz="900" dirty="0"/>
              <a:t>공공</a:t>
            </a:r>
            <a:r>
              <a:rPr lang="en-US" altLang="ko-KR" sz="900" dirty="0"/>
              <a:t>/</a:t>
            </a:r>
            <a:r>
              <a:rPr lang="ko-KR" altLang="en-US" sz="900" dirty="0"/>
              <a:t>기관 웹 고도화 전문</a:t>
            </a:r>
            <a:r>
              <a:rPr lang="en-US" altLang="ko-KR" sz="900" dirty="0"/>
              <a:t>(</a:t>
            </a:r>
            <a:r>
              <a:rPr lang="ko-KR" altLang="en-US" sz="900" dirty="0"/>
              <a:t>웹 사이트구축 및 리뉴얼</a:t>
            </a:r>
            <a:r>
              <a:rPr lang="en-US" altLang="ko-KR" sz="900" dirty="0"/>
              <a:t>)</a:t>
            </a:r>
            <a:br>
              <a:rPr lang="en-US" altLang="ko-KR" sz="900" dirty="0"/>
            </a:br>
            <a:r>
              <a:rPr lang="en-US" altLang="ko-KR" sz="900" dirty="0"/>
              <a:t>- </a:t>
            </a:r>
            <a:r>
              <a:rPr lang="ko-KR" altLang="en-US" sz="900" dirty="0"/>
              <a:t>시스템 고도화 통합</a:t>
            </a:r>
            <a:br>
              <a:rPr lang="en-US" altLang="ko-KR" sz="900" dirty="0"/>
            </a:br>
            <a:r>
              <a:rPr lang="en-US" altLang="ko-KR" sz="900" dirty="0"/>
              <a:t>- </a:t>
            </a:r>
            <a:r>
              <a:rPr lang="ko-KR" altLang="en-US" sz="900" dirty="0"/>
              <a:t>웹 접근성 진단 및 개선</a:t>
            </a:r>
            <a:br>
              <a:rPr lang="en-US" altLang="ko-KR" sz="900" dirty="0"/>
            </a:br>
            <a:r>
              <a:rPr lang="en-US" altLang="ko-KR" sz="900" dirty="0"/>
              <a:t>- </a:t>
            </a:r>
            <a:r>
              <a:rPr lang="ko-KR" altLang="en-US" sz="900" dirty="0"/>
              <a:t>유지보수</a:t>
            </a:r>
            <a:r>
              <a:rPr lang="en-US" altLang="ko-KR" sz="900" dirty="0"/>
              <a:t>/</a:t>
            </a:r>
            <a:r>
              <a:rPr lang="ko-KR" altLang="en-US" sz="900" dirty="0"/>
              <a:t>운영 안정화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E9769E-6571-1A17-773E-0A6581BB5B7F}"/>
              </a:ext>
            </a:extLst>
          </p:cNvPr>
          <p:cNvSpPr txBox="1"/>
          <p:nvPr/>
        </p:nvSpPr>
        <p:spPr>
          <a:xfrm>
            <a:off x="3600595" y="5596735"/>
            <a:ext cx="121860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 </a:t>
            </a:r>
            <a:r>
              <a:rPr lang="ko-KR" altLang="en-US" sz="900" dirty="0"/>
              <a:t>전화 </a:t>
            </a:r>
            <a:r>
              <a:rPr lang="en-US" altLang="ko-KR" sz="900" dirty="0"/>
              <a:t>/ </a:t>
            </a:r>
            <a:r>
              <a:rPr lang="ko-KR" altLang="en-US" sz="900" dirty="0"/>
              <a:t>팩스 </a:t>
            </a:r>
            <a:r>
              <a:rPr lang="en-US" altLang="ko-KR" sz="900" dirty="0"/>
              <a:t>/ </a:t>
            </a:r>
            <a:r>
              <a:rPr lang="ko-KR" altLang="en-US" sz="900" dirty="0"/>
              <a:t>주소</a:t>
            </a:r>
            <a:br>
              <a:rPr lang="en-US" altLang="ko-KR" sz="900" dirty="0"/>
            </a:br>
            <a:r>
              <a:rPr lang="en-US" altLang="ko-KR" sz="900" dirty="0"/>
              <a:t>- </a:t>
            </a:r>
            <a:r>
              <a:rPr lang="ko-KR" altLang="en-US" sz="900" dirty="0"/>
              <a:t>문의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AB20F2-178B-B4E7-1B8C-EB239082DFCB}"/>
              </a:ext>
            </a:extLst>
          </p:cNvPr>
          <p:cNvSpPr txBox="1"/>
          <p:nvPr/>
        </p:nvSpPr>
        <p:spPr>
          <a:xfrm>
            <a:off x="3600595" y="2308179"/>
            <a:ext cx="2706190" cy="5078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 </a:t>
            </a:r>
            <a:r>
              <a:rPr lang="ko-KR" altLang="en-US" sz="900" dirty="0"/>
              <a:t>공공</a:t>
            </a:r>
            <a:r>
              <a:rPr lang="en-US" altLang="ko-KR" sz="900" dirty="0"/>
              <a:t>/</a:t>
            </a:r>
            <a:r>
              <a:rPr lang="ko-KR" altLang="en-US" sz="900" dirty="0"/>
              <a:t>기관 </a:t>
            </a:r>
            <a:r>
              <a:rPr lang="en-US" altLang="ko-KR" sz="900" dirty="0"/>
              <a:t>: </a:t>
            </a:r>
            <a:r>
              <a:rPr lang="ko-KR" altLang="en-US" sz="900" dirty="0"/>
              <a:t> </a:t>
            </a:r>
            <a:r>
              <a:rPr lang="en-US" altLang="ko-KR" sz="900" dirty="0"/>
              <a:t>SI/SM/</a:t>
            </a:r>
            <a:r>
              <a:rPr lang="ko-KR" altLang="en-US" sz="900" dirty="0"/>
              <a:t>클라우드 구축</a:t>
            </a:r>
            <a:r>
              <a:rPr lang="en-US" altLang="ko-KR" sz="900" dirty="0"/>
              <a:t>/</a:t>
            </a:r>
            <a:r>
              <a:rPr lang="ko-KR" altLang="en-US" sz="900" dirty="0"/>
              <a:t>솔루션 유통</a:t>
            </a:r>
            <a:br>
              <a:rPr lang="en-US" altLang="ko-KR" sz="900" dirty="0"/>
            </a:br>
            <a:r>
              <a:rPr lang="en-US" altLang="ko-KR" sz="900" dirty="0"/>
              <a:t>- </a:t>
            </a:r>
            <a:r>
              <a:rPr lang="ko-KR" altLang="en-US" sz="900" dirty="0"/>
              <a:t>의료기관 </a:t>
            </a:r>
            <a:r>
              <a:rPr lang="en-US" altLang="ko-KR" sz="900" dirty="0"/>
              <a:t>: SI/SM/</a:t>
            </a:r>
            <a:r>
              <a:rPr lang="ko-KR" altLang="en-US" sz="900" dirty="0"/>
              <a:t>클라우드 구축</a:t>
            </a:r>
            <a:r>
              <a:rPr lang="en-US" altLang="ko-KR" sz="900" dirty="0"/>
              <a:t>/</a:t>
            </a:r>
            <a:r>
              <a:rPr lang="ko-KR" altLang="en-US" sz="900" dirty="0"/>
              <a:t>솔루션 유통</a:t>
            </a:r>
          </a:p>
          <a:p>
            <a:r>
              <a:rPr lang="en-US" altLang="ko-KR" sz="900" dirty="0"/>
              <a:t>- AI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〮RPA : </a:t>
            </a:r>
            <a:r>
              <a:rPr lang="en-US" altLang="ko-KR" sz="900" dirty="0"/>
              <a:t>AI </a:t>
            </a:r>
            <a:r>
              <a:rPr lang="ko-KR" altLang="en-US" sz="900" dirty="0"/>
              <a:t>서비스 </a:t>
            </a:r>
            <a:r>
              <a:rPr lang="en-US" altLang="ko-KR" sz="900" dirty="0"/>
              <a:t>/ </a:t>
            </a:r>
            <a:r>
              <a:rPr lang="en-US" altLang="ko-KR" sz="900" dirty="0">
                <a:latin typeface="맑은 고딕" panose="020B0503020000020004" pitchFamily="50" charset="-127"/>
              </a:rPr>
              <a:t>RPA </a:t>
            </a:r>
            <a:r>
              <a:rPr lang="ko-KR" altLang="en-US" sz="900" dirty="0">
                <a:latin typeface="맑은 고딕" panose="020B0503020000020004" pitchFamily="50" charset="-127"/>
              </a:rPr>
              <a:t>구축 </a:t>
            </a:r>
            <a:r>
              <a:rPr lang="en-US" altLang="ko-KR" sz="900" dirty="0">
                <a:latin typeface="맑은 고딕" panose="020B0503020000020004" pitchFamily="50" charset="-127"/>
              </a:rPr>
              <a:t>/ RPA </a:t>
            </a:r>
            <a:r>
              <a:rPr lang="ko-KR" altLang="en-US" sz="900" dirty="0">
                <a:latin typeface="맑은 고딕" panose="020B0503020000020004" pitchFamily="50" charset="-127"/>
              </a:rPr>
              <a:t>컨설팅</a:t>
            </a:r>
            <a:endParaRPr lang="ko-KR" altLang="en-US" sz="9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22BAAC-02BF-C53D-B8B4-FD497F1A29DD}"/>
              </a:ext>
            </a:extLst>
          </p:cNvPr>
          <p:cNvSpPr txBox="1"/>
          <p:nvPr/>
        </p:nvSpPr>
        <p:spPr>
          <a:xfrm>
            <a:off x="3667515" y="4565757"/>
            <a:ext cx="2361544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 </a:t>
            </a:r>
            <a:r>
              <a:rPr lang="ko-KR" altLang="en-US" sz="900" dirty="0"/>
              <a:t>대표사례</a:t>
            </a:r>
            <a:br>
              <a:rPr lang="en-US" altLang="ko-KR" sz="900" dirty="0"/>
            </a:br>
            <a:r>
              <a:rPr lang="en-US" altLang="ko-KR" sz="900" dirty="0"/>
              <a:t>- </a:t>
            </a:r>
            <a:r>
              <a:rPr lang="ko-KR" altLang="en-US" sz="900" dirty="0"/>
              <a:t>공공기관프로젝트 </a:t>
            </a:r>
            <a:r>
              <a:rPr lang="en-US" altLang="ko-KR" sz="900" dirty="0"/>
              <a:t>/ </a:t>
            </a:r>
            <a:r>
              <a:rPr lang="ko-KR" altLang="en-US" sz="900" dirty="0"/>
              <a:t>기업서비스프로젝트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953BE7-A26C-23FE-9157-8EAF0F8BC496}"/>
              </a:ext>
            </a:extLst>
          </p:cNvPr>
          <p:cNvSpPr txBox="1"/>
          <p:nvPr/>
        </p:nvSpPr>
        <p:spPr>
          <a:xfrm>
            <a:off x="887206" y="3095789"/>
            <a:ext cx="861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솔루션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8D11C0-1931-EF64-1197-3ACB211C7C0B}"/>
              </a:ext>
            </a:extLst>
          </p:cNvPr>
          <p:cNvSpPr txBox="1"/>
          <p:nvPr/>
        </p:nvSpPr>
        <p:spPr>
          <a:xfrm>
            <a:off x="889323" y="2037217"/>
            <a:ext cx="926443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사업분야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63978C-D055-C7E2-BED3-CC2B3373B0B8}"/>
              </a:ext>
            </a:extLst>
          </p:cNvPr>
          <p:cNvSpPr txBox="1"/>
          <p:nvPr/>
        </p:nvSpPr>
        <p:spPr>
          <a:xfrm>
            <a:off x="887206" y="5350514"/>
            <a:ext cx="861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회사소개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3D80C0-5D52-5B47-B9B4-3CC78465C77C}"/>
              </a:ext>
            </a:extLst>
          </p:cNvPr>
          <p:cNvSpPr txBox="1"/>
          <p:nvPr/>
        </p:nvSpPr>
        <p:spPr>
          <a:xfrm>
            <a:off x="889323" y="4226250"/>
            <a:ext cx="926443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포트폴리오</a:t>
            </a:r>
          </a:p>
        </p:txBody>
      </p:sp>
    </p:spTree>
    <p:extLst>
      <p:ext uri="{BB962C8B-B14F-4D97-AF65-F5344CB8AC3E}">
        <p14:creationId xmlns:p14="http://schemas.microsoft.com/office/powerpoint/2010/main" val="3940370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B3E046-04BE-32E2-61EE-572FD9502615}"/>
              </a:ext>
            </a:extLst>
          </p:cNvPr>
          <p:cNvSpPr txBox="1"/>
          <p:nvPr/>
        </p:nvSpPr>
        <p:spPr>
          <a:xfrm>
            <a:off x="302535" y="783976"/>
            <a:ext cx="889987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- </a:t>
            </a:r>
            <a:r>
              <a:rPr lang="ko-KR" altLang="en-US" sz="900" dirty="0"/>
              <a:t>메인 카피</a:t>
            </a:r>
          </a:p>
          <a:p>
            <a:r>
              <a:rPr lang="en-US" altLang="ko-KR" sz="900" dirty="0"/>
              <a:t>- </a:t>
            </a:r>
            <a:r>
              <a:rPr lang="ko-KR" altLang="en-US" sz="900" dirty="0"/>
              <a:t>핵심 서비스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F3285A-639D-C7AC-A2CD-4F5F49E16E49}"/>
              </a:ext>
            </a:extLst>
          </p:cNvPr>
          <p:cNvSpPr txBox="1"/>
          <p:nvPr/>
        </p:nvSpPr>
        <p:spPr>
          <a:xfrm>
            <a:off x="234019" y="508087"/>
            <a:ext cx="106399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메인 페이지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8CCD3-1928-3024-5C69-4CC3B1E0E702}"/>
              </a:ext>
            </a:extLst>
          </p:cNvPr>
          <p:cNvSpPr txBox="1"/>
          <p:nvPr/>
        </p:nvSpPr>
        <p:spPr>
          <a:xfrm>
            <a:off x="365760" y="1382498"/>
            <a:ext cx="4922520" cy="6955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1" i="0" dirty="0">
                <a:solidFill>
                  <a:srgbClr val="232425"/>
                </a:solidFill>
                <a:effectLst/>
                <a:latin typeface="Noto Sans SC"/>
              </a:rPr>
              <a:t>더 안정적으로</a:t>
            </a:r>
            <a:r>
              <a:rPr lang="en-US" altLang="ko-KR" sz="1100" b="1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sz="1100" b="1" i="0" dirty="0">
                <a:solidFill>
                  <a:srgbClr val="232425"/>
                </a:solidFill>
                <a:effectLst/>
                <a:latin typeface="Noto Sans SC"/>
              </a:rPr>
              <a:t>더 스마트하게</a:t>
            </a:r>
            <a:r>
              <a:rPr lang="en-US" altLang="ko-KR" sz="1100" b="1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sz="1100" b="1" i="0" dirty="0">
                <a:solidFill>
                  <a:srgbClr val="232425"/>
                </a:solidFill>
                <a:effectLst/>
                <a:latin typeface="Noto Sans SC"/>
              </a:rPr>
              <a:t>더 </a:t>
            </a:r>
            <a:r>
              <a:rPr lang="ko-KR" altLang="en-US" sz="1100" b="1" i="0" dirty="0" err="1">
                <a:solidFill>
                  <a:srgbClr val="232425"/>
                </a:solidFill>
                <a:effectLst/>
                <a:latin typeface="Noto Sans SC"/>
              </a:rPr>
              <a:t>미래답게</a:t>
            </a:r>
            <a:br>
              <a:rPr lang="ko-KR" altLang="en-US" sz="1100" dirty="0"/>
            </a:br>
            <a:r>
              <a:rPr lang="ko-KR" altLang="en-US" sz="800" b="0" i="0" dirty="0">
                <a:solidFill>
                  <a:srgbClr val="232425"/>
                </a:solidFill>
                <a:effectLst/>
                <a:latin typeface="Noto Sans SC"/>
              </a:rPr>
              <a:t>공공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Noto Sans SC"/>
              </a:rPr>
              <a:t>·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Noto Sans SC"/>
              </a:rPr>
              <a:t>기관과 의료 분야의 디지털 인프라를 구축하고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Noto Sans SC"/>
              </a:rPr>
              <a:t>,</a:t>
            </a:r>
            <a:br>
              <a:rPr lang="ko-KR" altLang="en-US" sz="800" dirty="0"/>
            </a:br>
            <a:r>
              <a:rPr lang="en-US" altLang="ko-KR" sz="800" b="0" i="0" dirty="0">
                <a:solidFill>
                  <a:srgbClr val="232425"/>
                </a:solidFill>
                <a:effectLst/>
                <a:latin typeface="Noto Sans SC"/>
              </a:rPr>
              <a:t>RPA·AI 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Noto Sans SC"/>
              </a:rPr>
              <a:t>기반 혁신으로 더 나은 업무 환경을 만듭니다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  <a:endParaRPr lang="ko-KR" alt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1BCED-FFEF-4555-C25C-C9DBDF081143}"/>
              </a:ext>
            </a:extLst>
          </p:cNvPr>
          <p:cNvSpPr txBox="1"/>
          <p:nvPr/>
        </p:nvSpPr>
        <p:spPr>
          <a:xfrm>
            <a:off x="346917" y="2212717"/>
            <a:ext cx="4922520" cy="6955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1" i="0" dirty="0">
                <a:solidFill>
                  <a:srgbClr val="232425"/>
                </a:solidFill>
                <a:effectLst/>
                <a:latin typeface="Noto Sans SC"/>
              </a:rPr>
              <a:t>신뢰를 설계하고</a:t>
            </a:r>
            <a:r>
              <a:rPr lang="en-US" altLang="ko-KR" sz="1100" b="1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sz="1100" b="1" i="0" dirty="0">
                <a:solidFill>
                  <a:srgbClr val="232425"/>
                </a:solidFill>
                <a:effectLst/>
                <a:latin typeface="Noto Sans SC"/>
              </a:rPr>
              <a:t>혁신을 연결합니다</a:t>
            </a:r>
            <a:br>
              <a:rPr lang="ko-KR" altLang="en-US" sz="1100" dirty="0"/>
            </a:br>
            <a:r>
              <a:rPr lang="en-US" altLang="ko-KR" sz="800" b="0" i="0" dirty="0">
                <a:solidFill>
                  <a:srgbClr val="232425"/>
                </a:solidFill>
                <a:effectLst/>
                <a:latin typeface="Noto Sans SC"/>
              </a:rPr>
              <a:t>SI, SM, 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Noto Sans SC"/>
              </a:rPr>
              <a:t>클라우드 운영의 안정성 위에</a:t>
            </a:r>
            <a:br>
              <a:rPr lang="ko-KR" altLang="en-US" sz="800" dirty="0"/>
            </a:br>
            <a:r>
              <a:rPr lang="en-US" altLang="ko-KR" sz="800" b="0" i="0" dirty="0">
                <a:solidFill>
                  <a:srgbClr val="232425"/>
                </a:solidFill>
                <a:effectLst/>
                <a:latin typeface="Noto Sans SC"/>
              </a:rPr>
              <a:t>RPA·AI 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Noto Sans SC"/>
              </a:rPr>
              <a:t>기술을 더해 지속 가능한 디지털 전환을 실현합니다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06016C-F4FF-1AB1-96F4-A3ED5C880FA1}"/>
              </a:ext>
            </a:extLst>
          </p:cNvPr>
          <p:cNvSpPr txBox="1"/>
          <p:nvPr/>
        </p:nvSpPr>
        <p:spPr>
          <a:xfrm>
            <a:off x="346917" y="3042936"/>
            <a:ext cx="4922520" cy="7391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1" i="0" dirty="0">
                <a:solidFill>
                  <a:srgbClr val="232425"/>
                </a:solidFill>
                <a:effectLst/>
                <a:latin typeface="Noto Sans SC"/>
              </a:rPr>
              <a:t>안정적인 시스템 위에</a:t>
            </a:r>
            <a:r>
              <a:rPr lang="en-US" altLang="ko-KR" sz="1100" b="1" i="0" dirty="0">
                <a:solidFill>
                  <a:srgbClr val="232425"/>
                </a:solidFill>
                <a:effectLst/>
                <a:latin typeface="Noto Sans SC"/>
              </a:rPr>
              <a:t>, </a:t>
            </a:r>
            <a:r>
              <a:rPr lang="ko-KR" altLang="en-US" sz="1100" b="1" i="0" dirty="0">
                <a:solidFill>
                  <a:srgbClr val="232425"/>
                </a:solidFill>
                <a:effectLst/>
                <a:latin typeface="Noto Sans SC"/>
              </a:rPr>
              <a:t>지능형 혁신을 더하다</a:t>
            </a:r>
            <a:br>
              <a:rPr lang="ko-KR" altLang="en-US" sz="1100" dirty="0"/>
            </a:br>
            <a:r>
              <a:rPr lang="ko-KR" altLang="en-US" sz="800" b="0" i="0" dirty="0">
                <a:solidFill>
                  <a:srgbClr val="232425"/>
                </a:solidFill>
                <a:effectLst/>
                <a:latin typeface="Noto Sans SC"/>
              </a:rPr>
              <a:t>공공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Noto Sans SC"/>
              </a:rPr>
              <a:t>·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Noto Sans SC"/>
              </a:rPr>
              <a:t>기관과 의료기관을 위한 디지털 서비스부터</a:t>
            </a:r>
            <a:br>
              <a:rPr lang="ko-KR" altLang="en-US" sz="800" dirty="0"/>
            </a:br>
            <a:r>
              <a:rPr lang="ko-KR" altLang="en-US" sz="800" b="0" i="0" dirty="0">
                <a:solidFill>
                  <a:srgbClr val="232425"/>
                </a:solidFill>
                <a:effectLst/>
                <a:latin typeface="Noto Sans SC"/>
              </a:rPr>
              <a:t>자동화와 </a:t>
            </a:r>
            <a:r>
              <a:rPr lang="en-US" altLang="ko-KR" sz="800" b="0" i="0" dirty="0">
                <a:solidFill>
                  <a:srgbClr val="232425"/>
                </a:solidFill>
                <a:effectLst/>
                <a:latin typeface="Noto Sans SC"/>
              </a:rPr>
              <a:t>AI </a:t>
            </a:r>
            <a:r>
              <a:rPr lang="ko-KR" altLang="en-US" sz="800" b="0" i="0" dirty="0">
                <a:solidFill>
                  <a:srgbClr val="232425"/>
                </a:solidFill>
                <a:effectLst/>
                <a:latin typeface="Noto Sans SC"/>
              </a:rPr>
              <a:t>기반 혁신까지 다루소프트가 함께합니다</a:t>
            </a:r>
            <a:r>
              <a:rPr lang="en-US" altLang="ko-KR" sz="900" b="0" i="0" dirty="0">
                <a:solidFill>
                  <a:srgbClr val="232425"/>
                </a:solidFill>
                <a:effectLst/>
                <a:latin typeface="Noto Sans SC"/>
              </a:rPr>
              <a:t>.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27742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AC01C-B140-8F14-C520-9D8B71B7D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D9F2C3D-79F2-869C-46C6-80B807FB9463}"/>
              </a:ext>
            </a:extLst>
          </p:cNvPr>
          <p:cNvSpPr/>
          <p:nvPr/>
        </p:nvSpPr>
        <p:spPr>
          <a:xfrm>
            <a:off x="391886" y="923731"/>
            <a:ext cx="2144285" cy="2057397"/>
          </a:xfrm>
          <a:prstGeom prst="roundRect">
            <a:avLst>
              <a:gd name="adj" fmla="val 66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813844-0D78-0E78-67E6-9274343B950A}"/>
              </a:ext>
            </a:extLst>
          </p:cNvPr>
          <p:cNvSpPr txBox="1"/>
          <p:nvPr/>
        </p:nvSpPr>
        <p:spPr>
          <a:xfrm>
            <a:off x="357756" y="539283"/>
            <a:ext cx="106399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사업분야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EF1DC-9430-4835-1001-D4095BD809E9}"/>
              </a:ext>
            </a:extLst>
          </p:cNvPr>
          <p:cNvSpPr txBox="1"/>
          <p:nvPr/>
        </p:nvSpPr>
        <p:spPr>
          <a:xfrm>
            <a:off x="3112226" y="1308725"/>
            <a:ext cx="4892686" cy="1216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공공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기관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- SI : </a:t>
            </a:r>
            <a:r>
              <a:rPr lang="ko-KR" altLang="en-US" sz="1000" dirty="0"/>
              <a:t>공공</a:t>
            </a:r>
            <a:r>
              <a:rPr lang="en-US" altLang="ko-KR" sz="1000" dirty="0"/>
              <a:t>·</a:t>
            </a:r>
            <a:r>
              <a:rPr lang="ko-KR" altLang="en-US" sz="1000" dirty="0"/>
              <a:t>기관 업무에 맞는 시스템을 안정적으로 설계하고 구축합니다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- SM : </a:t>
            </a:r>
            <a:r>
              <a:rPr lang="ko-KR" altLang="en-US" sz="1000" dirty="0"/>
              <a:t>안정적인 운영과 지속적인 개선으로 시스템 가치를 높입니다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- </a:t>
            </a:r>
            <a:r>
              <a:rPr lang="ko-KR" altLang="en-US" sz="1000" dirty="0"/>
              <a:t>클라우드 구축 </a:t>
            </a:r>
            <a:r>
              <a:rPr lang="en-US" altLang="ko-KR" sz="1000" dirty="0"/>
              <a:t>: </a:t>
            </a:r>
            <a:r>
              <a:rPr lang="ko-KR" altLang="en-US" sz="1000" dirty="0"/>
              <a:t>공공 환경에 맞는 유연하고 안전한 클라우드 기반을 구축합니다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- </a:t>
            </a:r>
            <a:r>
              <a:rPr lang="ko-KR" altLang="en-US" sz="1000" dirty="0"/>
              <a:t>솔루션 유통 </a:t>
            </a:r>
            <a:r>
              <a:rPr lang="en-US" altLang="ko-KR" sz="1000" dirty="0"/>
              <a:t>: </a:t>
            </a:r>
            <a:r>
              <a:rPr lang="ko-KR" altLang="en-US" sz="1000" dirty="0"/>
              <a:t>검증된 솔루션을 공공 환경에 맞게 연결하고 제공합니다</a:t>
            </a:r>
            <a:r>
              <a:rPr lang="en-US" altLang="ko-KR" sz="1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D1AC8-1B43-092D-9907-7E739A122BC7}"/>
              </a:ext>
            </a:extLst>
          </p:cNvPr>
          <p:cNvSpPr txBox="1"/>
          <p:nvPr/>
        </p:nvSpPr>
        <p:spPr>
          <a:xfrm>
            <a:off x="3112226" y="2699425"/>
            <a:ext cx="5020926" cy="1216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의료기관</a:t>
            </a:r>
            <a:endParaRPr lang="en-US" altLang="ko-KR" sz="1000" b="1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- SI : </a:t>
            </a:r>
            <a:r>
              <a:rPr lang="ko-KR" altLang="en-US" sz="1000" dirty="0"/>
              <a:t>의료 현장의 업무 흐름에 맞춘 시스템을 설계하고 구축합니다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- SM : </a:t>
            </a:r>
            <a:r>
              <a:rPr lang="ko-KR" altLang="en-US" sz="1000" dirty="0"/>
              <a:t>의료 서비스의 연속성을 위해 시스템 운영을 안정적으로 지원합니다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- </a:t>
            </a:r>
            <a:r>
              <a:rPr lang="ko-KR" altLang="en-US" sz="1000" dirty="0"/>
              <a:t>클라우드 구축 </a:t>
            </a:r>
            <a:r>
              <a:rPr lang="en-US" altLang="ko-KR" sz="1000" dirty="0"/>
              <a:t>: </a:t>
            </a:r>
            <a:r>
              <a:rPr lang="ko-KR" altLang="en-US" sz="1000" dirty="0"/>
              <a:t>의료기관에 적합한 안전하고 유연한 클라우드 환경을 구축합니다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- </a:t>
            </a:r>
            <a:r>
              <a:rPr lang="ko-KR" altLang="en-US" sz="1000" dirty="0"/>
              <a:t>솔루션 유통 </a:t>
            </a:r>
            <a:r>
              <a:rPr lang="en-US" altLang="ko-KR" sz="1000" dirty="0"/>
              <a:t>: </a:t>
            </a:r>
            <a:r>
              <a:rPr lang="ko-KR" altLang="en-US" sz="1000" dirty="0"/>
              <a:t>의료 현장에 필요한 솔루션을 최적의 방식으로 제안하고 공급합니다</a:t>
            </a:r>
            <a:r>
              <a:rPr lang="en-US" altLang="ko-KR" sz="1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380D0-88CA-49FB-9096-9C4D6C912E89}"/>
              </a:ext>
            </a:extLst>
          </p:cNvPr>
          <p:cNvSpPr txBox="1"/>
          <p:nvPr/>
        </p:nvSpPr>
        <p:spPr>
          <a:xfrm>
            <a:off x="3112226" y="4090125"/>
            <a:ext cx="4815742" cy="9859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/>
              <a:t>AI / RPA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AI </a:t>
            </a:r>
            <a:r>
              <a:rPr lang="ko-KR" altLang="en-US" sz="1000" dirty="0"/>
              <a:t>서비스 </a:t>
            </a:r>
            <a:r>
              <a:rPr lang="en-US" altLang="ko-KR" sz="1000" dirty="0"/>
              <a:t>: AI </a:t>
            </a:r>
            <a:r>
              <a:rPr lang="ko-KR" altLang="en-US" sz="1000" dirty="0"/>
              <a:t>기술로 더 빠르고 스마트한 업무 환경을 만듭니다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RPA </a:t>
            </a:r>
            <a:r>
              <a:rPr lang="ko-KR" altLang="en-US" sz="1000" dirty="0"/>
              <a:t>구축 </a:t>
            </a:r>
            <a:r>
              <a:rPr lang="en-US" altLang="ko-KR" sz="1000" dirty="0"/>
              <a:t>: </a:t>
            </a:r>
            <a:r>
              <a:rPr lang="ko-KR" altLang="en-US" sz="1000" dirty="0"/>
              <a:t>반복 업무를 자동화해 효율과 정확성을 함께 높입니다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RPA </a:t>
            </a:r>
            <a:r>
              <a:rPr lang="ko-KR" altLang="en-US" sz="1000" dirty="0"/>
              <a:t>컨설팅 </a:t>
            </a:r>
            <a:r>
              <a:rPr lang="en-US" altLang="ko-KR" sz="1000" dirty="0"/>
              <a:t>: </a:t>
            </a:r>
            <a:r>
              <a:rPr lang="ko-KR" altLang="en-US" sz="1000" dirty="0"/>
              <a:t>업무 진단부터 자동화 전략까지 </a:t>
            </a:r>
            <a:r>
              <a:rPr lang="en-US" altLang="ko-KR" sz="1000" dirty="0"/>
              <a:t>RPA </a:t>
            </a:r>
            <a:r>
              <a:rPr lang="ko-KR" altLang="en-US" sz="1000" dirty="0"/>
              <a:t>도입 방향을 함께 설계합니다</a:t>
            </a:r>
            <a:r>
              <a:rPr lang="en-US" altLang="ko-KR" sz="10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93087-7BBB-9176-4813-AF8A44D159AF}"/>
              </a:ext>
            </a:extLst>
          </p:cNvPr>
          <p:cNvSpPr txBox="1"/>
          <p:nvPr/>
        </p:nvSpPr>
        <p:spPr>
          <a:xfrm>
            <a:off x="3112226" y="1006303"/>
            <a:ext cx="11801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/>
              <a:t>3</a:t>
            </a:r>
            <a:r>
              <a:rPr lang="ko-KR" altLang="en-US" sz="900" b="1" dirty="0"/>
              <a:t>가지 분야로 분류 </a:t>
            </a:r>
          </a:p>
        </p:txBody>
      </p:sp>
    </p:spTree>
    <p:extLst>
      <p:ext uri="{BB962C8B-B14F-4D97-AF65-F5344CB8AC3E}">
        <p14:creationId xmlns:p14="http://schemas.microsoft.com/office/powerpoint/2010/main" val="4232507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0050A-5264-2C37-A99A-D1BC7116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B1C87B-4CF2-6900-C67D-023E2C037429}"/>
              </a:ext>
            </a:extLst>
          </p:cNvPr>
          <p:cNvSpPr/>
          <p:nvPr/>
        </p:nvSpPr>
        <p:spPr>
          <a:xfrm>
            <a:off x="391886" y="923731"/>
            <a:ext cx="2144285" cy="2057397"/>
          </a:xfrm>
          <a:prstGeom prst="roundRect">
            <a:avLst>
              <a:gd name="adj" fmla="val 66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C1D257-20DC-0451-3737-FEF8CF50D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92" y="1320412"/>
            <a:ext cx="749120" cy="567838"/>
          </a:xfrm>
          <a:prstGeom prst="rect">
            <a:avLst/>
          </a:prstGeom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BF162F-9913-9F1A-8523-A5D22DAF1B0F}"/>
              </a:ext>
            </a:extLst>
          </p:cNvPr>
          <p:cNvSpPr txBox="1"/>
          <p:nvPr/>
        </p:nvSpPr>
        <p:spPr>
          <a:xfrm>
            <a:off x="541752" y="1063268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Solution</a:t>
            </a:r>
            <a:endParaRPr lang="ko-KR" altLang="en-US" sz="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AFE04D-9438-BA14-E78C-5078F2DA1CE1}"/>
              </a:ext>
            </a:extLst>
          </p:cNvPr>
          <p:cNvSpPr txBox="1"/>
          <p:nvPr/>
        </p:nvSpPr>
        <p:spPr>
          <a:xfrm>
            <a:off x="391886" y="2326776"/>
            <a:ext cx="2059733" cy="437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spcBef>
                <a:spcPts val="300"/>
              </a:spcBef>
              <a:defRPr/>
            </a:pP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콘텐츠 관리시스템 구축</a:t>
            </a: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 </a:t>
            </a:r>
            <a:b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</a:b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전자정부 표준 프레임워크 호환</a:t>
            </a: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레벨</a:t>
            </a: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2) 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992B77B-24D7-B1E0-8F8B-3153F2736420}"/>
              </a:ext>
            </a:extLst>
          </p:cNvPr>
          <p:cNvCxnSpPr>
            <a:cxnSpLocks/>
          </p:cNvCxnSpPr>
          <p:nvPr/>
        </p:nvCxnSpPr>
        <p:spPr>
          <a:xfrm>
            <a:off x="391886" y="2260863"/>
            <a:ext cx="21442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3EFD61E-6D59-FE2D-1A88-F18AFD6743B5}"/>
              </a:ext>
            </a:extLst>
          </p:cNvPr>
          <p:cNvSpPr txBox="1"/>
          <p:nvPr/>
        </p:nvSpPr>
        <p:spPr>
          <a:xfrm>
            <a:off x="357756" y="539283"/>
            <a:ext cx="106399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솔루션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0AE9BB-FE26-63BC-5DA8-FB53AC90D11C}"/>
              </a:ext>
            </a:extLst>
          </p:cNvPr>
          <p:cNvSpPr txBox="1"/>
          <p:nvPr/>
        </p:nvSpPr>
        <p:spPr>
          <a:xfrm>
            <a:off x="394276" y="2050346"/>
            <a:ext cx="7409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n>
                  <a:solidFill>
                    <a:srgbClr val="4472C4">
                      <a:alpha val="0"/>
                    </a:srgbClr>
                  </a:solidFill>
                </a:ln>
                <a:ea typeface="페이퍼로지 4 Regular" pitchFamily="2" charset="-127"/>
                <a:cs typeface="Pretendard" panose="02000503000000020004" pitchFamily="2" charset="-127"/>
              </a:rPr>
              <a:t>DARU-CMS</a:t>
            </a:r>
            <a:endParaRPr lang="ko-KR" altLang="en-US" sz="800" b="1" dirty="0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03F04CD-5412-4D96-5AC6-228AB208E2CD}"/>
              </a:ext>
            </a:extLst>
          </p:cNvPr>
          <p:cNvSpPr/>
          <p:nvPr/>
        </p:nvSpPr>
        <p:spPr>
          <a:xfrm>
            <a:off x="2845837" y="923731"/>
            <a:ext cx="2144285" cy="2057397"/>
          </a:xfrm>
          <a:prstGeom prst="roundRect">
            <a:avLst>
              <a:gd name="adj" fmla="val 66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1BE65F-6D44-FB2D-F5EB-2A89122A5CB5}"/>
              </a:ext>
            </a:extLst>
          </p:cNvPr>
          <p:cNvSpPr txBox="1"/>
          <p:nvPr/>
        </p:nvSpPr>
        <p:spPr>
          <a:xfrm>
            <a:off x="2995703" y="1063268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Solution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A20D56-3DF2-B6D7-2E60-FA2F6249EEE2}"/>
              </a:ext>
            </a:extLst>
          </p:cNvPr>
          <p:cNvSpPr txBox="1"/>
          <p:nvPr/>
        </p:nvSpPr>
        <p:spPr>
          <a:xfrm>
            <a:off x="2845837" y="2326776"/>
            <a:ext cx="2059733" cy="437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spcBef>
                <a:spcPts val="300"/>
              </a:spcBef>
              <a:defRPr/>
            </a:pP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콘텐츠 관리시스템 구축</a:t>
            </a: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 </a:t>
            </a:r>
            <a:b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</a:b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전자정부 표준 프레임워크 호환</a:t>
            </a: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레벨</a:t>
            </a: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2) </a:t>
            </a: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2155217-FE36-7CB6-DB23-8EABD10D5483}"/>
              </a:ext>
            </a:extLst>
          </p:cNvPr>
          <p:cNvCxnSpPr>
            <a:cxnSpLocks/>
          </p:cNvCxnSpPr>
          <p:nvPr/>
        </p:nvCxnSpPr>
        <p:spPr>
          <a:xfrm>
            <a:off x="2845837" y="2260863"/>
            <a:ext cx="21442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D0F64EE-F2FB-0ACD-7D97-6CCBEBD23BD7}"/>
              </a:ext>
            </a:extLst>
          </p:cNvPr>
          <p:cNvSpPr txBox="1"/>
          <p:nvPr/>
        </p:nvSpPr>
        <p:spPr>
          <a:xfrm>
            <a:off x="2848227" y="2050346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n>
                  <a:solidFill>
                    <a:srgbClr val="4472C4">
                      <a:alpha val="0"/>
                    </a:srgbClr>
                  </a:solidFill>
                </a:ln>
                <a:ea typeface="페이퍼로지 4 Regular" pitchFamily="2" charset="-127"/>
                <a:cs typeface="Pretendard" panose="02000503000000020004" pitchFamily="2" charset="-127"/>
              </a:rPr>
              <a:t>DARU-WA</a:t>
            </a:r>
            <a:endParaRPr lang="ko-KR" altLang="en-US" sz="800" b="1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0C0FC25-56AA-DE0D-0479-182E2C0F3F28}"/>
              </a:ext>
            </a:extLst>
          </p:cNvPr>
          <p:cNvSpPr/>
          <p:nvPr/>
        </p:nvSpPr>
        <p:spPr>
          <a:xfrm>
            <a:off x="5430416" y="923731"/>
            <a:ext cx="2144285" cy="2057397"/>
          </a:xfrm>
          <a:prstGeom prst="roundRect">
            <a:avLst>
              <a:gd name="adj" fmla="val 66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DE6BFB0-4211-3FCF-69CC-EE900C13B755}"/>
              </a:ext>
            </a:extLst>
          </p:cNvPr>
          <p:cNvSpPr txBox="1"/>
          <p:nvPr/>
        </p:nvSpPr>
        <p:spPr>
          <a:xfrm>
            <a:off x="5580282" y="1063268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Solution</a:t>
            </a:r>
            <a:endParaRPr lang="ko-KR" altLang="en-US" sz="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37E31B-A0DD-FA49-D086-2ABC73A05DBB}"/>
              </a:ext>
            </a:extLst>
          </p:cNvPr>
          <p:cNvSpPr txBox="1"/>
          <p:nvPr/>
        </p:nvSpPr>
        <p:spPr>
          <a:xfrm>
            <a:off x="5430416" y="2326776"/>
            <a:ext cx="2059733" cy="437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spcBef>
                <a:spcPts val="300"/>
              </a:spcBef>
              <a:defRPr/>
            </a:pP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콘텐츠 관리시스템 구축</a:t>
            </a: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 </a:t>
            </a:r>
            <a:b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</a:b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전자정부 표준 프레임워크 호환</a:t>
            </a: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레벨</a:t>
            </a:r>
            <a: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2) 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3B24E30-D682-0589-3DDE-B21961E285C3}"/>
              </a:ext>
            </a:extLst>
          </p:cNvPr>
          <p:cNvCxnSpPr>
            <a:cxnSpLocks/>
          </p:cNvCxnSpPr>
          <p:nvPr/>
        </p:nvCxnSpPr>
        <p:spPr>
          <a:xfrm>
            <a:off x="5430416" y="2260863"/>
            <a:ext cx="21442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3EF435B-5177-3DAC-F612-3A3368C444B2}"/>
              </a:ext>
            </a:extLst>
          </p:cNvPr>
          <p:cNvSpPr txBox="1"/>
          <p:nvPr/>
        </p:nvSpPr>
        <p:spPr>
          <a:xfrm>
            <a:off x="5432806" y="2050346"/>
            <a:ext cx="9348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n>
                  <a:solidFill>
                    <a:srgbClr val="4472C4">
                      <a:alpha val="0"/>
                    </a:srgbClr>
                  </a:solidFill>
                </a:ln>
                <a:ea typeface="페이퍼로지 4 Regular" pitchFamily="2" charset="-127"/>
                <a:cs typeface="Pretendard" panose="02000503000000020004" pitchFamily="2" charset="-127"/>
              </a:rPr>
              <a:t>DARU-AI CHAT</a:t>
            </a:r>
            <a:endParaRPr lang="ko-KR" altLang="en-US" sz="800" b="1" dirty="0"/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A38B5CA3-40EF-D95C-54D3-96AAF17C6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477" y="1513622"/>
            <a:ext cx="1181997" cy="392256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CAF30D21-2F54-CF4F-10AF-1B2052FC3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861" y="1468401"/>
            <a:ext cx="1181997" cy="39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2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BA0ED4-210B-3BFB-C6B1-B0EF2CEA0CB3}"/>
              </a:ext>
            </a:extLst>
          </p:cNvPr>
          <p:cNvSpPr txBox="1"/>
          <p:nvPr/>
        </p:nvSpPr>
        <p:spPr>
          <a:xfrm>
            <a:off x="218763" y="500070"/>
            <a:ext cx="926443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포트폴리오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13AC469-7B65-CB4C-6A63-A228FE2802F1}"/>
              </a:ext>
            </a:extLst>
          </p:cNvPr>
          <p:cNvSpPr/>
          <p:nvPr/>
        </p:nvSpPr>
        <p:spPr>
          <a:xfrm>
            <a:off x="391886" y="923731"/>
            <a:ext cx="2144285" cy="2057397"/>
          </a:xfrm>
          <a:prstGeom prst="roundRect">
            <a:avLst>
              <a:gd name="adj" fmla="val 66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D2C7E3-8323-DF9A-D26D-B4CF1D06D6DE}"/>
              </a:ext>
            </a:extLst>
          </p:cNvPr>
          <p:cNvSpPr txBox="1"/>
          <p:nvPr/>
        </p:nvSpPr>
        <p:spPr>
          <a:xfrm>
            <a:off x="541752" y="1063268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Website</a:t>
            </a:r>
            <a:endParaRPr lang="ko-KR" altLang="en-US" sz="800" b="1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6B33479-A744-482E-60D4-CCB9284CE652}"/>
              </a:ext>
            </a:extLst>
          </p:cNvPr>
          <p:cNvCxnSpPr>
            <a:cxnSpLocks/>
          </p:cNvCxnSpPr>
          <p:nvPr/>
        </p:nvCxnSpPr>
        <p:spPr>
          <a:xfrm>
            <a:off x="391886" y="2260863"/>
            <a:ext cx="2144285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02C52791-0B61-8FB1-64CE-C6C6014BC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89500"/>
              </p:ext>
            </p:extLst>
          </p:nvPr>
        </p:nvGraphicFramePr>
        <p:xfrm>
          <a:off x="391886" y="3435157"/>
          <a:ext cx="7898674" cy="2286000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544165">
                  <a:extLst>
                    <a:ext uri="{9D8B030D-6E8A-4147-A177-3AD203B41FA5}">
                      <a16:colId xmlns:a16="http://schemas.microsoft.com/office/drawing/2014/main" val="2099277639"/>
                    </a:ext>
                  </a:extLst>
                </a:gridCol>
                <a:gridCol w="2782509">
                  <a:extLst>
                    <a:ext uri="{9D8B030D-6E8A-4147-A177-3AD203B41FA5}">
                      <a16:colId xmlns:a16="http://schemas.microsoft.com/office/drawing/2014/main" val="357843964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660618028"/>
                    </a:ext>
                  </a:extLst>
                </a:gridCol>
              </a:tblGrid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순번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프로젝트명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설명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997756"/>
                  </a:ext>
                </a:extLst>
              </a:tr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대한임상병리사협회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홈페이지 유지관리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보수교육 및 </a:t>
                      </a: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출결시스템을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기반으로 </a:t>
                      </a: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대한임상병리사협회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홈페이지 운영관리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195932"/>
                  </a:ext>
                </a:extLst>
              </a:tr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한국생명존중희망재단 통합 홈페이지 기능 개발 및 유지관리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한국생명존중희망재단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홈페이지 기능 개발 및  운영관리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146389"/>
                  </a:ext>
                </a:extLst>
              </a:tr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가평군시설관리공단 홈페이지 구축 및 유지관리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가평군시설관리공단 홈페이지 구축  및 운영관리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055304"/>
                  </a:ext>
                </a:extLst>
              </a:tr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한국문화관광연구원 대표 </a:t>
                      </a: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누리집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기능 개선 및 운영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한국문화관광연구원 대표 </a:t>
                      </a: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누리집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기능개선 및 운영관리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367378"/>
                  </a:ext>
                </a:extLst>
              </a:tr>
              <a:tr h="215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공수처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대표홈페이지  구축 및 유지관리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공수처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국문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영문 홈페이지 구축 및 운영관리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114269"/>
                  </a:ext>
                </a:extLst>
              </a:tr>
              <a:tr h="215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명지전문대학 홈페이지  유지관리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명지전문대학 홈페이지 운영관리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153305"/>
                  </a:ext>
                </a:extLst>
              </a:tr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금융규제민원포털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대표홈페이지  구축 및 유지관리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금융규제민원포털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홈페이지 구축 및 운영관리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001088"/>
                  </a:ext>
                </a:extLst>
              </a:tr>
              <a:tr h="215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8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한국노인인력개발원 대표 홈페이지 유지관리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한국노인인력개발원 대표 홈페이지 운영관리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662123"/>
                  </a:ext>
                </a:extLst>
              </a:tr>
              <a:tr h="215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오션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MOOC 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홈페이지 구축 및 운영관리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오션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MOOC(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한국형 온라인  해양공개강좌 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홈페이지 구축 및 운영관리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70015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9CC0F6C5-6ACF-CD90-341F-A9F1F1A009CB}"/>
              </a:ext>
            </a:extLst>
          </p:cNvPr>
          <p:cNvSpPr txBox="1"/>
          <p:nvPr/>
        </p:nvSpPr>
        <p:spPr>
          <a:xfrm>
            <a:off x="434161" y="2326776"/>
            <a:ext cx="2059733" cy="43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spcBef>
                <a:spcPts val="300"/>
              </a:spcBef>
              <a:defRPr/>
            </a:pP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보수교육 및 </a:t>
            </a:r>
            <a:r>
              <a:rPr lang="ko-KR" altLang="en-US" sz="800" dirty="0" err="1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출결시스템을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 기반으로</a:t>
            </a:r>
            <a:br>
              <a:rPr lang="en-US" altLang="ko-KR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</a:br>
            <a:r>
              <a:rPr lang="ko-KR" altLang="en-US" sz="800" dirty="0" err="1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대한임상병리사협회</a:t>
            </a:r>
            <a:r>
              <a:rPr lang="ko-KR" altLang="en-US" sz="80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+mj-lt"/>
                <a:ea typeface="페이퍼로지 4 Regular" pitchFamily="2" charset="-127"/>
                <a:cs typeface="Pretendard" panose="02000503000000020004" pitchFamily="2" charset="-127"/>
              </a:rPr>
              <a:t> 홈페이지 운영관리</a:t>
            </a:r>
            <a:endParaRPr lang="en-US" altLang="ko-KR" sz="800" dirty="0">
              <a:ln>
                <a:solidFill>
                  <a:srgbClr val="4472C4">
                    <a:alpha val="0"/>
                  </a:srgbClr>
                </a:solidFill>
              </a:ln>
              <a:latin typeface="+mj-lt"/>
              <a:ea typeface="페이퍼로지 4 Regular" pitchFamily="2" charset="-127"/>
              <a:cs typeface="Pretendard" panose="02000503000000020004" pitchFamily="2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41EDCB6B-A68D-0517-FEFC-3A168B0D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324" y="1414456"/>
            <a:ext cx="1005106" cy="46220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7150D88-869C-10EE-AA4F-DD51B6B2CE38}"/>
              </a:ext>
            </a:extLst>
          </p:cNvPr>
          <p:cNvSpPr txBox="1"/>
          <p:nvPr/>
        </p:nvSpPr>
        <p:spPr>
          <a:xfrm>
            <a:off x="468014" y="2050346"/>
            <a:ext cx="1784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>
                <a:ln>
                  <a:solidFill>
                    <a:srgbClr val="4472C4">
                      <a:alpha val="0"/>
                    </a:srgbClr>
                  </a:solidFill>
                </a:ln>
                <a:ea typeface="페이퍼로지 4 Regular" pitchFamily="2" charset="-127"/>
                <a:cs typeface="Pretendard" panose="02000503000000020004" pitchFamily="2" charset="-127"/>
              </a:rPr>
              <a:t>대한임상병리사협회</a:t>
            </a:r>
            <a:r>
              <a:rPr lang="ko-KR" altLang="en-US" sz="800" b="1" dirty="0">
                <a:ln>
                  <a:solidFill>
                    <a:srgbClr val="4472C4">
                      <a:alpha val="0"/>
                    </a:srgbClr>
                  </a:solidFill>
                </a:ln>
                <a:ea typeface="페이퍼로지 4 Regular" pitchFamily="2" charset="-127"/>
                <a:cs typeface="Pretendard" panose="02000503000000020004" pitchFamily="2" charset="-127"/>
              </a:rPr>
              <a:t> 홈페이지 유지관리</a:t>
            </a:r>
            <a:endParaRPr lang="ko-KR" altLang="en-US" sz="800" b="1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31CDAEB-3F71-8D1E-A02C-1DAF1CB6F916}"/>
              </a:ext>
            </a:extLst>
          </p:cNvPr>
          <p:cNvCxnSpPr>
            <a:stCxn id="21" idx="3"/>
          </p:cNvCxnSpPr>
          <p:nvPr/>
        </p:nvCxnSpPr>
        <p:spPr>
          <a:xfrm flipV="1">
            <a:off x="1135184" y="1158240"/>
            <a:ext cx="2034270" cy="12750"/>
          </a:xfrm>
          <a:prstGeom prst="straightConnector1">
            <a:avLst/>
          </a:prstGeom>
          <a:ln w="3175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8FD6243-34C1-DFB3-2A3A-F57FB24B82EE}"/>
              </a:ext>
            </a:extLst>
          </p:cNvPr>
          <p:cNvCxnSpPr>
            <a:cxnSpLocks/>
          </p:cNvCxnSpPr>
          <p:nvPr/>
        </p:nvCxnSpPr>
        <p:spPr>
          <a:xfrm flipV="1">
            <a:off x="2081474" y="1709551"/>
            <a:ext cx="1087980" cy="23704"/>
          </a:xfrm>
          <a:prstGeom prst="straightConnector1">
            <a:avLst/>
          </a:prstGeom>
          <a:ln w="3175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E1824DA-6055-B2B1-8341-C493D350937B}"/>
              </a:ext>
            </a:extLst>
          </p:cNvPr>
          <p:cNvCxnSpPr>
            <a:cxnSpLocks/>
          </p:cNvCxnSpPr>
          <p:nvPr/>
        </p:nvCxnSpPr>
        <p:spPr>
          <a:xfrm flipV="1">
            <a:off x="2252477" y="2128852"/>
            <a:ext cx="916977" cy="29216"/>
          </a:xfrm>
          <a:prstGeom prst="straightConnector1">
            <a:avLst/>
          </a:prstGeom>
          <a:ln w="3175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80F5D83-1C20-01F3-98CA-63D2F3BC3B1B}"/>
              </a:ext>
            </a:extLst>
          </p:cNvPr>
          <p:cNvCxnSpPr>
            <a:cxnSpLocks/>
          </p:cNvCxnSpPr>
          <p:nvPr/>
        </p:nvCxnSpPr>
        <p:spPr>
          <a:xfrm flipV="1">
            <a:off x="2252477" y="2582881"/>
            <a:ext cx="916977" cy="23704"/>
          </a:xfrm>
          <a:prstGeom prst="straightConnector1">
            <a:avLst/>
          </a:prstGeom>
          <a:ln w="3175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BF16C3F-7234-3949-2846-77831133D682}"/>
              </a:ext>
            </a:extLst>
          </p:cNvPr>
          <p:cNvSpPr txBox="1"/>
          <p:nvPr/>
        </p:nvSpPr>
        <p:spPr>
          <a:xfrm>
            <a:off x="3200204" y="1029121"/>
            <a:ext cx="21307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구분 </a:t>
            </a:r>
            <a:r>
              <a:rPr lang="en-US" altLang="ko-KR" sz="800" b="1" dirty="0"/>
              <a:t>: Solution / Website / Application 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243AC5-632B-0C59-5039-6A7673701986}"/>
              </a:ext>
            </a:extLst>
          </p:cNvPr>
          <p:cNvSpPr txBox="1"/>
          <p:nvPr/>
        </p:nvSpPr>
        <p:spPr>
          <a:xfrm>
            <a:off x="3200204" y="1590872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/>
              <a:t>해당기관 로고</a:t>
            </a:r>
            <a:endParaRPr lang="ko-KR" altLang="en-US" sz="8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E6CC5B-C23B-1523-1708-24B4D2D1B9AE}"/>
              </a:ext>
            </a:extLst>
          </p:cNvPr>
          <p:cNvSpPr txBox="1"/>
          <p:nvPr/>
        </p:nvSpPr>
        <p:spPr>
          <a:xfrm>
            <a:off x="3200204" y="2022607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프로젝트명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0BA00F-8FF9-B7DF-5F53-83678A90F2D7}"/>
              </a:ext>
            </a:extLst>
          </p:cNvPr>
          <p:cNvSpPr txBox="1"/>
          <p:nvPr/>
        </p:nvSpPr>
        <p:spPr>
          <a:xfrm>
            <a:off x="3200204" y="2452598"/>
            <a:ext cx="9396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프로젝트 </a:t>
            </a:r>
            <a:r>
              <a:rPr lang="ko-KR" altLang="en-US" sz="800" b="1" dirty="0" err="1"/>
              <a:t>소개글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3495504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BDF0-16F8-35A9-8209-F3363105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B9911B-93C1-4B05-53CF-7AB43860F97C}"/>
              </a:ext>
            </a:extLst>
          </p:cNvPr>
          <p:cNvSpPr txBox="1"/>
          <p:nvPr/>
        </p:nvSpPr>
        <p:spPr>
          <a:xfrm>
            <a:off x="216646" y="626114"/>
            <a:ext cx="861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회사소개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C38682-5485-A7EF-CC49-27D13A3F1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13624"/>
              </p:ext>
            </p:extLst>
          </p:nvPr>
        </p:nvGraphicFramePr>
        <p:xfrm>
          <a:off x="218763" y="1050097"/>
          <a:ext cx="3326674" cy="2918460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544165">
                  <a:extLst>
                    <a:ext uri="{9D8B030D-6E8A-4147-A177-3AD203B41FA5}">
                      <a16:colId xmlns:a16="http://schemas.microsoft.com/office/drawing/2014/main" val="2099277639"/>
                    </a:ext>
                  </a:extLst>
                </a:gridCol>
                <a:gridCol w="2782509">
                  <a:extLst>
                    <a:ext uri="{9D8B030D-6E8A-4147-A177-3AD203B41FA5}">
                      <a16:colId xmlns:a16="http://schemas.microsoft.com/office/drawing/2014/main" val="3578439643"/>
                    </a:ext>
                  </a:extLst>
                </a:gridCol>
              </a:tblGrid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년도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주요연혁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997756"/>
                  </a:ext>
                </a:extLst>
              </a:tr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2026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DARU-CMS GS 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인증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(4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월말 예정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195932"/>
                  </a:ext>
                </a:extLst>
              </a:tr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국제품질인증 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CMMI 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인증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(4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월말 예정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146389"/>
                  </a:ext>
                </a:extLst>
              </a:tr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2025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055304"/>
                  </a:ext>
                </a:extLst>
              </a:tr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2024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DARU-CMS(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호환성 인증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전자정부표준프레임워크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367378"/>
                  </a:ext>
                </a:extLst>
              </a:tr>
              <a:tr h="215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2023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CMS  S/W 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등록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987965"/>
                  </a:ext>
                </a:extLst>
              </a:tr>
              <a:tr h="215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2021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웹플래너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＂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서울평생교육원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“ LMS 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기술지원 파트너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355897"/>
                  </a:ext>
                </a:extLst>
              </a:tr>
              <a:tr h="215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2020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배화여자대학교 가족회사 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GUQDIR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대한결핵협회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파트너쉽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373941"/>
                  </a:ext>
                </a:extLst>
              </a:tr>
              <a:tr h="215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2018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RPA </a:t>
                      </a: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업무자동화시스템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컨설팅 솔루션 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Partner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153305"/>
                  </a:ext>
                </a:extLst>
              </a:tr>
              <a:tr h="21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2016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한국디지털접근성진흥원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구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b="0" kern="1200" spc="-6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한국웨접근성평가센터</a:t>
                      </a: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기술지원협약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001088"/>
                  </a:ext>
                </a:extLst>
              </a:tr>
              <a:tr h="215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2015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여성기업등록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662123"/>
                  </a:ext>
                </a:extLst>
              </a:tr>
              <a:tr h="215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2014</a:t>
                      </a:r>
                      <a:endParaRPr lang="ko-KR" altLang="en-US" sz="900" b="0" kern="1200" spc="-6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295C61"/>
                        </a:buClr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kern="1200" spc="-6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법인설립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7001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E8B8183-4C8A-E164-F256-69F0D592845D}"/>
              </a:ext>
            </a:extLst>
          </p:cNvPr>
          <p:cNvSpPr txBox="1"/>
          <p:nvPr/>
        </p:nvSpPr>
        <p:spPr>
          <a:xfrm>
            <a:off x="1078617" y="659225"/>
            <a:ext cx="15905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err="1"/>
              <a:t>회사연혁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/   </a:t>
            </a:r>
            <a:r>
              <a:rPr lang="ko-KR" altLang="en-US" sz="900" b="1" dirty="0"/>
              <a:t>찾아오시는 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ADB3FB-F49A-53CC-CD54-3D3296A2E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756" y="1050097"/>
            <a:ext cx="3452094" cy="300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56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112656-0F55-7615-5024-5DBA5068181D}"/>
              </a:ext>
            </a:extLst>
          </p:cNvPr>
          <p:cNvSpPr txBox="1"/>
          <p:nvPr/>
        </p:nvSpPr>
        <p:spPr>
          <a:xfrm>
            <a:off x="216646" y="626114"/>
            <a:ext cx="861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문의하기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06E24-6720-B7C7-574C-B9A0929EBC77}"/>
              </a:ext>
            </a:extLst>
          </p:cNvPr>
          <p:cNvSpPr txBox="1"/>
          <p:nvPr/>
        </p:nvSpPr>
        <p:spPr>
          <a:xfrm>
            <a:off x="3415005" y="1324947"/>
            <a:ext cx="1204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CONTACT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0CE7B-9166-D7E7-F82E-D2F354771936}"/>
              </a:ext>
            </a:extLst>
          </p:cNvPr>
          <p:cNvSpPr txBox="1"/>
          <p:nvPr/>
        </p:nvSpPr>
        <p:spPr>
          <a:xfrm>
            <a:off x="3172159" y="1815991"/>
            <a:ext cx="1858201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자세한 문의사항 및 자료요청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CONTACT@darusoft.co.kr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0CD7F-453A-E382-4928-E557C6139A6A}"/>
              </a:ext>
            </a:extLst>
          </p:cNvPr>
          <p:cNvSpPr txBox="1"/>
          <p:nvPr/>
        </p:nvSpPr>
        <p:spPr>
          <a:xfrm>
            <a:off x="9020174" y="2308179"/>
            <a:ext cx="2996422" cy="99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ts val="12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ko-KR" sz="800" b="1" dirty="0">
                <a:latin typeface="+mn-ea"/>
              </a:rPr>
              <a:t>Contact </a:t>
            </a:r>
            <a:r>
              <a:rPr lang="ko-KR" altLang="en-US" sz="800" b="1" dirty="0">
                <a:latin typeface="+mn-ea"/>
              </a:rPr>
              <a:t>페이지는</a:t>
            </a:r>
            <a:r>
              <a:rPr lang="en-US" altLang="ko-KR" sz="800" b="1" dirty="0">
                <a:latin typeface="+mn-ea"/>
              </a:rPr>
              <a:t>… </a:t>
            </a:r>
            <a:br>
              <a:rPr lang="en-US" altLang="ko-KR" sz="800" b="1" dirty="0">
                <a:latin typeface="+mn-ea"/>
              </a:rPr>
            </a:br>
            <a:r>
              <a:rPr lang="ko-KR" altLang="en-US" sz="800" b="1" dirty="0">
                <a:latin typeface="+mn-ea"/>
              </a:rPr>
              <a:t>페이지를 만들기엔 </a:t>
            </a:r>
            <a:r>
              <a:rPr lang="ko-KR" altLang="en-US" sz="800" b="1" dirty="0" err="1">
                <a:latin typeface="+mn-ea"/>
              </a:rPr>
              <a:t>개인정보동의등</a:t>
            </a:r>
            <a:r>
              <a:rPr lang="en-US" altLang="ko-KR" sz="800" b="1" dirty="0">
                <a:latin typeface="+mn-ea"/>
              </a:rPr>
              <a:t>.. </a:t>
            </a:r>
            <a:r>
              <a:rPr lang="ko-KR" altLang="en-US" sz="800" b="1" dirty="0">
                <a:latin typeface="+mn-ea"/>
              </a:rPr>
              <a:t>필요해서요</a:t>
            </a:r>
            <a:r>
              <a:rPr lang="en-US" altLang="ko-KR" sz="800" b="1" dirty="0">
                <a:latin typeface="+mn-ea"/>
              </a:rPr>
              <a:t>. </a:t>
            </a:r>
            <a:br>
              <a:rPr lang="en-US" altLang="ko-KR" sz="800" b="1" dirty="0">
                <a:latin typeface="+mn-ea"/>
              </a:rPr>
            </a:br>
            <a:r>
              <a:rPr lang="ko-KR" altLang="en-US" sz="800" b="1" dirty="0">
                <a:latin typeface="+mn-ea"/>
              </a:rPr>
              <a:t>아직 고민중인데요</a:t>
            </a:r>
            <a:r>
              <a:rPr lang="en-US" altLang="ko-KR" sz="800" b="1" dirty="0">
                <a:latin typeface="+mn-ea"/>
              </a:rPr>
              <a:t>. </a:t>
            </a:r>
            <a:br>
              <a:rPr lang="en-US" altLang="ko-KR" sz="800" b="1" dirty="0">
                <a:latin typeface="+mn-ea"/>
              </a:rPr>
            </a:br>
            <a:r>
              <a:rPr lang="ko-KR" altLang="en-US" sz="800" b="1" dirty="0" err="1">
                <a:latin typeface="+mn-ea"/>
              </a:rPr>
              <a:t>메인에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ko-KR" altLang="en-US" sz="800" b="1" dirty="0" err="1">
                <a:latin typeface="+mn-ea"/>
              </a:rPr>
              <a:t>플로팅배너</a:t>
            </a:r>
            <a:r>
              <a:rPr lang="ko-KR" altLang="en-US" sz="800" b="1" dirty="0">
                <a:latin typeface="+mn-ea"/>
              </a:rPr>
              <a:t> 고민중이예요</a:t>
            </a:r>
            <a:r>
              <a:rPr lang="en-US" altLang="ko-KR" sz="800" b="1" dirty="0">
                <a:latin typeface="+mn-ea"/>
              </a:rPr>
              <a:t>.  ^^ </a:t>
            </a:r>
            <a:br>
              <a:rPr lang="en-US" altLang="ko-KR" sz="800" b="1" dirty="0">
                <a:latin typeface="+mn-ea"/>
              </a:rPr>
            </a:br>
            <a:br>
              <a:rPr lang="en-US" altLang="ko-KR" sz="800" b="1" dirty="0">
                <a:latin typeface="+mn-ea"/>
              </a:rPr>
            </a:br>
            <a:r>
              <a:rPr lang="ko-KR" altLang="en-US" sz="800" b="1" dirty="0" err="1">
                <a:latin typeface="+mn-ea"/>
              </a:rPr>
              <a:t>빠른고민</a:t>
            </a:r>
            <a:r>
              <a:rPr lang="ko-KR" altLang="en-US" sz="800" b="1" dirty="0">
                <a:latin typeface="+mn-ea"/>
              </a:rPr>
              <a:t> 후 답변 </a:t>
            </a:r>
            <a:r>
              <a:rPr lang="ko-KR" altLang="en-US" sz="800" b="1" dirty="0" err="1">
                <a:latin typeface="+mn-ea"/>
              </a:rPr>
              <a:t>드릴게욤</a:t>
            </a:r>
            <a:r>
              <a:rPr lang="en-US" altLang="ko-KR" sz="800" b="1">
                <a:latin typeface="+mn-ea"/>
              </a:rPr>
              <a:t>. </a:t>
            </a:r>
            <a:endParaRPr lang="en-US" altLang="ko-KR" sz="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639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6589</TotalTime>
  <Words>697</Words>
  <Application>Microsoft Office PowerPoint</Application>
  <PresentationFormat>와이드스크린</PresentationFormat>
  <Paragraphs>121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Noto Sans SC</vt:lpstr>
      <vt:lpstr>Arial</vt:lpstr>
      <vt:lpstr>Noto Sans</vt:lpstr>
      <vt:lpstr>나눔스퀘어 Bold</vt:lpstr>
      <vt:lpstr>맑은 고딕</vt:lpstr>
      <vt:lpstr>페이퍼로지 4 Regular</vt:lpstr>
      <vt:lpstr>Office 테마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 sujin</dc:creator>
  <cp:lastModifiedBy>kim sujin</cp:lastModifiedBy>
  <cp:revision>40</cp:revision>
  <cp:lastPrinted>2026-04-08T02:15:30Z</cp:lastPrinted>
  <dcterms:created xsi:type="dcterms:W3CDTF">2024-07-30T09:10:30Z</dcterms:created>
  <dcterms:modified xsi:type="dcterms:W3CDTF">2026-04-08T04:31:59Z</dcterms:modified>
</cp:coreProperties>
</file>